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</p:sldIdLst>
  <p:notesMasterIdLst>
    <p:notesMasterId r:id="rId5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notesMaster" Target="notesMasters/notesMaster1.xml"/><Relationship Id="rId51" Type="http://schemas.openxmlformats.org/officeDocument/2006/relationships/presProps" Target="presProps.xml"/><Relationship Id="rId52" Type="http://schemas.openxmlformats.org/officeDocument/2006/relationships/viewProps" Target="viewProps.xml"/><Relationship Id="rId53" Type="http://schemas.openxmlformats.org/officeDocument/2006/relationships/theme" Target="theme/theme1.xml"/><Relationship Id="rId5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A344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206240" cy="6858000"/>
          </a:xfrm>
          <a:prstGeom prst="rect">
            <a:avLst/>
          </a:prstGeom>
          <a:solidFill>
            <a:srgbClr val="222B39"/>
          </a:solidFill>
          <a:ln/>
        </p:spPr>
      </p:sp>
      <p:sp>
        <p:nvSpPr>
          <p:cNvPr id="3" name="Shape 1"/>
          <p:cNvSpPr/>
          <p:nvPr/>
        </p:nvSpPr>
        <p:spPr>
          <a:xfrm>
            <a:off x="1371600" y="2011680"/>
            <a:ext cx="1554480" cy="1371600"/>
          </a:xfrm>
          <a:prstGeom prst="roundRect">
            <a:avLst>
              <a:gd name="adj" fmla="val 13333"/>
            </a:avLst>
          </a:prstGeom>
          <a:solidFill>
            <a:srgbClr val="1B2430"/>
          </a:solidFill>
          <a:ln w="25400">
            <a:solidFill>
              <a:srgbClr val="5AA17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10800000">
            <a:off x="1371600" y="3246120"/>
            <a:ext cx="1554480" cy="822960"/>
          </a:xfrm>
          <a:prstGeom prst="triangle">
            <a:avLst/>
          </a:prstGeom>
          <a:solidFill>
            <a:srgbClr val="1B2430"/>
          </a:solidFill>
          <a:ln w="25400">
            <a:solidFill>
              <a:srgbClr val="5AA17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371600" y="2148840"/>
            <a:ext cx="1554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dirty="0">
                <a:solidFill>
                  <a:srgbClr val="000000"/>
                </a:solidFill>
              </a:rPr>
              <a:t>🔒</a:t>
            </a:r>
            <a:endParaRPr lang="en-US" sz="3400" dirty="0"/>
          </a:p>
        </p:txBody>
      </p:sp>
      <p:sp>
        <p:nvSpPr>
          <p:cNvPr id="6" name="Text 4"/>
          <p:cNvSpPr txBox="1"/>
          <p:nvPr/>
        </p:nvSpPr>
        <p:spPr>
          <a:xfrm>
            <a:off x="4572000" y="2011680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5AA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CASE JAVA · APPLICATION SECURITY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4572000" y="2468880"/>
            <a:ext cx="72237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04: Criptografia e Gestão de Sessão</a:t>
            </a:r>
            <a:endParaRPr lang="en-US" sz="3200" dirty="0"/>
          </a:p>
        </p:txBody>
      </p:sp>
      <p:sp>
        <p:nvSpPr>
          <p:cNvPr id="8" name="Text 6"/>
          <p:cNvSpPr txBox="1"/>
          <p:nvPr/>
        </p:nvSpPr>
        <p:spPr>
          <a:xfrm>
            <a:off x="4572000" y="4480560"/>
            <a:ext cx="6949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AE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Proteger os dados de verdade (não 'Base64') e blindar a sessão e o token do usuário.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2A344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551615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E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5029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 da Aula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73736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E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2084832"/>
            <a:ext cx="3383280" cy="0"/>
          </a:xfrm>
          <a:prstGeom prst="line">
            <a:avLst/>
          </a:prstGeom>
          <a:noFill/>
          <a:ln w="19050">
            <a:solidFill>
              <a:srgbClr val="5AA17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214884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Fundamentos de Criptografia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260604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AE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Cifra, hash, HMAC e algoritmos aprovados</a:t>
            </a:r>
            <a:endParaRPr lang="en-US" sz="1150" dirty="0"/>
          </a:p>
        </p:txBody>
      </p:sp>
      <p:sp>
        <p:nvSpPr>
          <p:cNvPr id="8" name="Text 6"/>
          <p:cNvSpPr txBox="1"/>
          <p:nvPr/>
        </p:nvSpPr>
        <p:spPr>
          <a:xfrm>
            <a:off x="4343400" y="173736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E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343400" y="2084832"/>
            <a:ext cx="3383280" cy="0"/>
          </a:xfrm>
          <a:prstGeom prst="line">
            <a:avLst/>
          </a:prstGeom>
          <a:noFill/>
          <a:ln w="19050">
            <a:solidFill>
              <a:srgbClr val="5AA17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343400" y="214884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Chaves e Aleatoriedade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4343400" y="260604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AE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Gestão de chaves, SecureRandom, IV/nonce</a:t>
            </a:r>
            <a:endParaRPr lang="en-US" sz="1150" dirty="0"/>
          </a:p>
        </p:txBody>
      </p:sp>
      <p:sp>
        <p:nvSpPr>
          <p:cNvPr id="12" name="Text 10"/>
          <p:cNvSpPr txBox="1"/>
          <p:nvPr/>
        </p:nvSpPr>
        <p:spPr>
          <a:xfrm>
            <a:off x="8046720" y="173736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E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8046720" y="2084832"/>
            <a:ext cx="3383280" cy="0"/>
          </a:xfrm>
          <a:prstGeom prst="line">
            <a:avLst/>
          </a:prstGeom>
          <a:noFill/>
          <a:ln w="19050">
            <a:solidFill>
              <a:srgbClr val="5AA17A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046720" y="214884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Cripto em Java (JCA/JCE)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8046720" y="260604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AE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AES-256-GCM na prática + TLS</a:t>
            </a:r>
            <a:endParaRPr lang="en-US" sz="115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315468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E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40080" y="3502152"/>
            <a:ext cx="3383280" cy="0"/>
          </a:xfrm>
          <a:prstGeom prst="line">
            <a:avLst/>
          </a:prstGeom>
          <a:noFill/>
          <a:ln w="19050">
            <a:solidFill>
              <a:srgbClr val="5AA17A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40080" y="356616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Gestão de Sessão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640080" y="402336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AE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Ciclo de vida, cookies, fixation</a:t>
            </a:r>
            <a:endParaRPr lang="en-US" sz="1150" dirty="0"/>
          </a:p>
        </p:txBody>
      </p:sp>
      <p:sp>
        <p:nvSpPr>
          <p:cNvPr id="20" name="Text 18"/>
          <p:cNvSpPr txBox="1"/>
          <p:nvPr/>
        </p:nvSpPr>
        <p:spPr>
          <a:xfrm>
            <a:off x="4343400" y="315468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E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4343400" y="3502152"/>
            <a:ext cx="3383280" cy="0"/>
          </a:xfrm>
          <a:prstGeom prst="line">
            <a:avLst/>
          </a:prstGeom>
          <a:noFill/>
          <a:ln w="19050">
            <a:solidFill>
              <a:srgbClr val="5AA17A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4343400" y="356616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e CSRF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4343400" y="402336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AE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Verificação de assinatura, alg:none, CSRF</a:t>
            </a:r>
            <a:endParaRPr lang="en-US" sz="1150" dirty="0"/>
          </a:p>
        </p:txBody>
      </p:sp>
      <p:sp>
        <p:nvSpPr>
          <p:cNvPr id="24" name="Text 22"/>
          <p:cNvSpPr txBox="1"/>
          <p:nvPr/>
        </p:nvSpPr>
        <p:spPr>
          <a:xfrm>
            <a:off x="8046720" y="315468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E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8046720" y="3502152"/>
            <a:ext cx="3383280" cy="0"/>
          </a:xfrm>
          <a:prstGeom prst="line">
            <a:avLst/>
          </a:prstGeom>
          <a:noFill/>
          <a:ln w="19050">
            <a:solidFill>
              <a:srgbClr val="5AA17A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8046720" y="356616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Laboratório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8046720" y="402336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AE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AES, JWT, cookie seguro, CSRF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2A344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551615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E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5029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Objetivos de Aprendizado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4173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E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Ao final desta aula, você será capaz de: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2011680"/>
            <a:ext cx="3520440" cy="2377440"/>
          </a:xfrm>
          <a:prstGeom prst="roundRect">
            <a:avLst>
              <a:gd name="adj" fmla="val 2308"/>
            </a:avLst>
          </a:prstGeom>
          <a:solidFill>
            <a:srgbClr val="2E5E43"/>
          </a:solidFill>
          <a:ln w="15875">
            <a:solidFill>
              <a:srgbClr val="4E8567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41248" y="2139696"/>
            <a:ext cx="31181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Proteger dados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841248" y="2542032"/>
            <a:ext cx="311810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E8F2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Escolher cifra x hash x HMAC</a:t>
            </a:r>
            <a:endParaRPr lang="en-US" sz="12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E8F2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Aplicar AES-256-GCM corretamente</a:t>
            </a:r>
            <a:endParaRPr lang="en-US" sz="12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E8F2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Gerir chaves fora do código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343400" y="2011680"/>
            <a:ext cx="3520440" cy="2377440"/>
          </a:xfrm>
          <a:prstGeom prst="roundRect">
            <a:avLst>
              <a:gd name="adj" fmla="val 2308"/>
            </a:avLst>
          </a:prstGeom>
          <a:solidFill>
            <a:srgbClr val="2E5E43"/>
          </a:solidFill>
          <a:ln w="15875">
            <a:solidFill>
              <a:srgbClr val="4E8567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544568" y="2139696"/>
            <a:ext cx="31181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Blindar a sessão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4544568" y="2542032"/>
            <a:ext cx="311810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E8F2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Cookies HttpOnly/Secure/SameSite</a:t>
            </a:r>
            <a:endParaRPr lang="en-US" sz="12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E8F2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Prevenir session fixation</a:t>
            </a:r>
            <a:endParaRPr lang="en-US" sz="12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E8F2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Timeout e sessões concorrentes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8046720" y="2011680"/>
            <a:ext cx="3520440" cy="2377440"/>
          </a:xfrm>
          <a:prstGeom prst="roundRect">
            <a:avLst>
              <a:gd name="adj" fmla="val 2308"/>
            </a:avLst>
          </a:prstGeom>
          <a:solidFill>
            <a:srgbClr val="2E5E43"/>
          </a:solidFill>
          <a:ln w="15875">
            <a:solidFill>
              <a:srgbClr val="4E8567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247888" y="2139696"/>
            <a:ext cx="31181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Endurecer tokens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8247888" y="2542032"/>
            <a:ext cx="311810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E8F2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Verificar assinatura do JWT</a:t>
            </a:r>
            <a:endParaRPr lang="en-US" sz="12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E8F2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Barrar alg:none e confusão de alg</a:t>
            </a:r>
            <a:endParaRPr lang="en-US" sz="12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E8F2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Proteger fluxos com CSRF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2A344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551615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E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45720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AA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RECAPITULANDO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749808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onde viemos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481328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550" i="1" dirty="0">
                <a:solidFill>
                  <a:srgbClr val="D7D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 Aula 3 protegemos identidade e acesso. Agora protegemos os dados em si — e a sessão que mantém o usuário logado.</a:t>
            </a:r>
            <a:endParaRPr lang="en-US" sz="155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487168"/>
            <a:ext cx="1088136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3: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AE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autenticação e autorização (IDOR e hashing corrigidos).</a:t>
            </a:r>
            <a:endParaRPr lang="en-US" sz="1450" dirty="0"/>
          </a:p>
          <a:p>
            <a:pPr marL="203200" indent="-2032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Hoje: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AE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criptografia de dados sensíveis e gestão de sessão/JWT.</a:t>
            </a:r>
            <a:endParaRPr lang="en-US" sz="1450" dirty="0"/>
          </a:p>
          <a:p>
            <a:pPr marL="203200" indent="-2032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lab: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AE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trocamos Base64 por AES, verificamos o JWT e blindamos a sessão.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640080" y="4343400"/>
            <a:ext cx="10881360" cy="896112"/>
          </a:xfrm>
          <a:prstGeom prst="roundRect">
            <a:avLst>
              <a:gd name="adj" fmla="val 5102"/>
            </a:avLst>
          </a:prstGeom>
          <a:solidFill>
            <a:srgbClr val="1F3A2E"/>
          </a:solidFill>
          <a:ln w="9525">
            <a:solidFill>
              <a:srgbClr val="7FD3A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22960" y="4416552"/>
            <a:ext cx="10515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7FD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Regra de ouro: 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E4EA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pergunta certa é 'preciso ler este dado de volta?' — ela decide qual primitiva usar.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222B3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188720" y="4114800"/>
            <a:ext cx="3840480" cy="3840480"/>
          </a:xfrm>
          <a:prstGeom prst="ellipse">
            <a:avLst/>
          </a:prstGeom>
          <a:solidFill>
            <a:srgbClr val="1A222E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31520" y="2011680"/>
            <a:ext cx="4572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5AA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46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3200400"/>
            <a:ext cx="10515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Fundamentos de Criptografia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434340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AE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Escolher a ferramenta certa para cada problema é metade da segurança.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2A344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551615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E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5029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criptografia importa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481328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550" i="1" dirty="0">
                <a:solidFill>
                  <a:srgbClr val="D7D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forma como você guarda e transmite dados decide o estrago quando algo vaza — e um dia vaza.</a:t>
            </a:r>
            <a:endParaRPr lang="en-US" sz="155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2487168"/>
            <a:ext cx="1088136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AE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Dados sensíveis exigem confidencialidade em repouso e em trânsito.</a:t>
            </a:r>
            <a:endParaRPr lang="en-US" sz="1450" dirty="0"/>
          </a:p>
          <a:p>
            <a:pPr marL="203200" indent="-2032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AE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Cripto mal usada dá falso senso de segurança — pior que não ter.</a:t>
            </a:r>
            <a:endParaRPr lang="en-US" sz="1450" dirty="0"/>
          </a:p>
          <a:p>
            <a:pPr marL="203200" indent="-2032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AE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Conformidade (LGPD/PCI) exige proteção adequada de PII e pagamento.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640080" y="4343400"/>
            <a:ext cx="10881360" cy="676656"/>
          </a:xfrm>
          <a:prstGeom prst="roundRect">
            <a:avLst>
              <a:gd name="adj" fmla="val 6757"/>
            </a:avLst>
          </a:prstGeom>
          <a:solidFill>
            <a:srgbClr val="3A2E1E"/>
          </a:solidFill>
          <a:ln w="9525">
            <a:solidFill>
              <a:srgbClr val="E8B36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22960" y="4416552"/>
            <a:ext cx="10515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E8B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Portal: 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E4EA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'dados de pagamento' estão em Base64 — hoje provamos que isso não protege nada.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2A344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551615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E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5029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Classifique o dado antes de escolher o controle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3520440" cy="2377440"/>
          </a:xfrm>
          <a:prstGeom prst="roundRect">
            <a:avLst>
              <a:gd name="adj" fmla="val 2308"/>
            </a:avLst>
          </a:prstGeom>
          <a:solidFill>
            <a:srgbClr val="2E5E43"/>
          </a:solidFill>
          <a:ln w="15875">
            <a:solidFill>
              <a:srgbClr val="4E856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41248" y="1865376"/>
            <a:ext cx="31181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Senha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841248" y="2267712"/>
            <a:ext cx="311810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E8F2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Só precisa ser verificada</a:t>
            </a:r>
            <a:endParaRPr lang="en-US" sz="12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E8F2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HASH (bcrypt)</a:t>
            </a:r>
            <a:endParaRPr lang="en-US" sz="12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E8F2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Feito na Aula 3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343400" y="1737360"/>
            <a:ext cx="3520440" cy="2377440"/>
          </a:xfrm>
          <a:prstGeom prst="roundRect">
            <a:avLst>
              <a:gd name="adj" fmla="val 2308"/>
            </a:avLst>
          </a:prstGeom>
          <a:solidFill>
            <a:srgbClr val="2E5E43"/>
          </a:solidFill>
          <a:ln w="15875">
            <a:solidFill>
              <a:srgbClr val="4E8567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544568" y="1865376"/>
            <a:ext cx="31181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Dados de pagamento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4544568" y="2267712"/>
            <a:ext cx="311810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E8F2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Precisam ser recuperados</a:t>
            </a:r>
            <a:endParaRPr lang="en-US" sz="12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E8F2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CIFRA (AES-GCM)</a:t>
            </a:r>
            <a:endParaRPr lang="en-US" sz="12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E8F2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TLS em trânsito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8046720" y="1737360"/>
            <a:ext cx="3520440" cy="2377440"/>
          </a:xfrm>
          <a:prstGeom prst="roundRect">
            <a:avLst>
              <a:gd name="adj" fmla="val 2308"/>
            </a:avLst>
          </a:prstGeom>
          <a:solidFill>
            <a:srgbClr val="2E5E43"/>
          </a:solidFill>
          <a:ln w="15875">
            <a:solidFill>
              <a:srgbClr val="4E8567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247888" y="1865376"/>
            <a:ext cx="31181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Catálogo público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8247888" y="2267712"/>
            <a:ext cx="311810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E8F2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sigilo</a:t>
            </a:r>
            <a:endParaRPr lang="en-US" sz="12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E8F2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nada especial</a:t>
            </a:r>
            <a:endParaRPr lang="en-US" sz="12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E8F2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Integridade se necessário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40080" y="4389120"/>
            <a:ext cx="10881360" cy="676656"/>
          </a:xfrm>
          <a:prstGeom prst="roundRect">
            <a:avLst>
              <a:gd name="adj" fmla="val 6757"/>
            </a:avLst>
          </a:prstGeom>
          <a:solidFill>
            <a:srgbClr val="1F3A2E"/>
          </a:solidFill>
          <a:ln w="9525">
            <a:solidFill>
              <a:srgbClr val="7FD3A6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22960" y="4462272"/>
            <a:ext cx="10515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7FD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Juntos: 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E4EA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 outros campos do Portal você classificaria como sensíveis, e como os protegeria?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2A344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551615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E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45720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AA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FUNDAMENTO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749808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Cifra x Hash x HMAC — a teoria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481328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550" i="1" dirty="0">
                <a:solidFill>
                  <a:srgbClr val="D7D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Três ferramentas para três problemas diferentes; escolher errado é a falha.</a:t>
            </a:r>
            <a:endParaRPr lang="en-US" sz="155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487168"/>
            <a:ext cx="1088136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Cifra: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AE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protege dado que precisa ser recuperado (AES).</a:t>
            </a:r>
            <a:endParaRPr lang="en-US" sz="1450" dirty="0"/>
          </a:p>
          <a:p>
            <a:pPr marL="203200" indent="-2032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Hash: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AE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 sem guardar o original (bcrypt para senha).</a:t>
            </a:r>
            <a:endParaRPr lang="en-US" sz="1450" dirty="0"/>
          </a:p>
          <a:p>
            <a:pPr marL="203200" indent="-2032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HMAC: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AE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 integridade + autenticidade com chave secreta (assinar token).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640080" y="4343400"/>
            <a:ext cx="10881360" cy="896112"/>
          </a:xfrm>
          <a:prstGeom prst="roundRect">
            <a:avLst>
              <a:gd name="adj" fmla="val 5102"/>
            </a:avLst>
          </a:prstGeom>
          <a:solidFill>
            <a:srgbClr val="1F3A2E"/>
          </a:solidFill>
          <a:ln w="9525">
            <a:solidFill>
              <a:srgbClr val="7FD3A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22960" y="4416552"/>
            <a:ext cx="10515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7FD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Analogia: 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E4EA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cifrar é trancar no cofre; hashear é triturar; o HMAC é o lacre que prova que ninguém abriu.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2A344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551615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E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5029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três primitivas, lado a lado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2103120"/>
            <a:ext cx="3200400" cy="1188720"/>
          </a:xfrm>
          <a:prstGeom prst="roundRect">
            <a:avLst>
              <a:gd name="adj" fmla="val 4615"/>
            </a:avLst>
          </a:prstGeom>
          <a:solidFill>
            <a:srgbClr val="BFE3CE"/>
          </a:solidFill>
          <a:ln w="12700">
            <a:solidFill>
              <a:srgbClr val="0F162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2103120"/>
            <a:ext cx="3108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800" b="1" dirty="0">
                <a:solidFill>
                  <a:srgbClr val="1B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CIFRA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3401568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AE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reversível com chave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389120" y="2103120"/>
            <a:ext cx="3200400" cy="1188720"/>
          </a:xfrm>
          <a:prstGeom prst="roundRect">
            <a:avLst>
              <a:gd name="adj" fmla="val 4615"/>
            </a:avLst>
          </a:prstGeom>
          <a:solidFill>
            <a:srgbClr val="AECBFA"/>
          </a:solidFill>
          <a:ln w="12700">
            <a:solidFill>
              <a:srgbClr val="0F162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434840" y="2103120"/>
            <a:ext cx="3108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800" b="1" dirty="0">
                <a:solidFill>
                  <a:srgbClr val="1B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4389120" y="3401568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AE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irreversível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8092440" y="2103120"/>
            <a:ext cx="3200400" cy="1188720"/>
          </a:xfrm>
          <a:prstGeom prst="roundRect">
            <a:avLst>
              <a:gd name="adj" fmla="val 4615"/>
            </a:avLst>
          </a:prstGeom>
          <a:solidFill>
            <a:srgbClr val="F3C98B"/>
          </a:solidFill>
          <a:ln w="12700">
            <a:solidFill>
              <a:srgbClr val="0F162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138160" y="2103120"/>
            <a:ext cx="3108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800" b="1" dirty="0">
                <a:solidFill>
                  <a:srgbClr val="1B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HMAC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8092440" y="3401568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AE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integridade + autenticidade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85800" y="4206240"/>
            <a:ext cx="10835640" cy="896112"/>
          </a:xfrm>
          <a:prstGeom prst="roundRect">
            <a:avLst>
              <a:gd name="adj" fmla="val 5102"/>
            </a:avLst>
          </a:prstGeom>
          <a:solidFill>
            <a:srgbClr val="20303F"/>
          </a:solidFill>
          <a:ln w="9525">
            <a:solidFill>
              <a:srgbClr val="9CC0E8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68680" y="4279392"/>
            <a:ext cx="104698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9CC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Pergunta-chave: 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E4EA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'preciso ler o dado de volta?' Sim → cifra. Não, só comparar → hash. Provar integridade → HMAC.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2A344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551615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E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5029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Criptografia simétrica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481328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550" i="1" dirty="0">
                <a:solidFill>
                  <a:srgbClr val="D7D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mesma chave cifra e decifra — rápida, ideal para volume e dados em repouso.</a:t>
            </a:r>
            <a:endParaRPr lang="en-US" sz="155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2487168"/>
            <a:ext cx="1088136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AE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Algoritmo padrão: AES (128/256 bits).</a:t>
            </a:r>
            <a:endParaRPr lang="en-US" sz="1450" dirty="0"/>
          </a:p>
          <a:p>
            <a:pPr marL="203200" indent="-2032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AE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Rápida: boa para grandes volumes.</a:t>
            </a:r>
            <a:endParaRPr lang="en-US" sz="1450" dirty="0"/>
          </a:p>
          <a:p>
            <a:pPr marL="203200" indent="-2032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AE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Desafio: distribuir a chave com segurança.</a:t>
            </a:r>
            <a:endParaRPr lang="en-US" sz="14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2A344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551615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E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5029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Simétrica — uma chave para tudo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914400" y="2377440"/>
            <a:ext cx="2377440" cy="914400"/>
          </a:xfrm>
          <a:prstGeom prst="roundRect">
            <a:avLst>
              <a:gd name="adj" fmla="val 6000"/>
            </a:avLst>
          </a:prstGeom>
          <a:solidFill>
            <a:srgbClr val="AECBFA"/>
          </a:solidFill>
          <a:ln w="12700">
            <a:solidFill>
              <a:srgbClr val="0F162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60120" y="237744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300" b="1" dirty="0">
                <a:solidFill>
                  <a:srgbClr val="1B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Texto claro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383280" y="2697480"/>
            <a:ext cx="548640" cy="274320"/>
          </a:xfrm>
          <a:prstGeom prst="rightArrow">
            <a:avLst/>
          </a:prstGeom>
          <a:solidFill>
            <a:srgbClr val="5AA17A"/>
          </a:solidFill>
          <a:ln/>
        </p:spPr>
      </p:sp>
      <p:sp>
        <p:nvSpPr>
          <p:cNvPr id="7" name="Shape 5"/>
          <p:cNvSpPr/>
          <p:nvPr/>
        </p:nvSpPr>
        <p:spPr>
          <a:xfrm>
            <a:off x="4023360" y="2377440"/>
            <a:ext cx="2377440" cy="914400"/>
          </a:xfrm>
          <a:prstGeom prst="roundRect">
            <a:avLst>
              <a:gd name="adj" fmla="val 6000"/>
            </a:avLst>
          </a:prstGeom>
          <a:solidFill>
            <a:srgbClr val="BFE3CE"/>
          </a:solidFill>
          <a:ln w="12700">
            <a:solidFill>
              <a:srgbClr val="0F162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069080" y="237744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300" b="1" dirty="0">
                <a:solidFill>
                  <a:srgbClr val="1B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AES + chave K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492240" y="2697480"/>
            <a:ext cx="548640" cy="274320"/>
          </a:xfrm>
          <a:prstGeom prst="rightArrow">
            <a:avLst/>
          </a:prstGeom>
          <a:solidFill>
            <a:srgbClr val="5AA17A"/>
          </a:solidFill>
          <a:ln/>
        </p:spPr>
      </p:sp>
      <p:sp>
        <p:nvSpPr>
          <p:cNvPr id="10" name="Shape 8"/>
          <p:cNvSpPr/>
          <p:nvPr/>
        </p:nvSpPr>
        <p:spPr>
          <a:xfrm>
            <a:off x="7132320" y="2377440"/>
            <a:ext cx="2377440" cy="914400"/>
          </a:xfrm>
          <a:prstGeom prst="roundRect">
            <a:avLst>
              <a:gd name="adj" fmla="val 6000"/>
            </a:avLst>
          </a:prstGeom>
          <a:solidFill>
            <a:srgbClr val="E9EDF2"/>
          </a:solidFill>
          <a:ln w="12700">
            <a:solidFill>
              <a:srgbClr val="0F162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178040" y="237744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300" b="1" dirty="0">
                <a:solidFill>
                  <a:srgbClr val="1B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Ciphertext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4023360" y="34747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E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🔑 mesma chave K decifra de volta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85800" y="4206240"/>
            <a:ext cx="10835640" cy="676656"/>
          </a:xfrm>
          <a:prstGeom prst="roundRect">
            <a:avLst>
              <a:gd name="adj" fmla="val 6757"/>
            </a:avLst>
          </a:prstGeom>
          <a:solidFill>
            <a:srgbClr val="1F3A2E"/>
          </a:solidFill>
          <a:ln w="9525">
            <a:solidFill>
              <a:srgbClr val="7FD3A6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68680" y="4279392"/>
            <a:ext cx="10469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7FD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Portal: 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E4EA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dados de pagamento em repouso, usamos AES (simétrica) com chave fora do código.</a:t>
            </a:r>
            <a:endParaRPr lang="en-US" sz="12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2A344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551615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E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5029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Criptografia assimétrica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481328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550" i="1" dirty="0">
                <a:solidFill>
                  <a:srgbClr val="D7D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par de chaves: pública (cifra/verifica) e privada (decifra/assina) — mais lenta, ótima para troca de chave e assinatura.</a:t>
            </a:r>
            <a:endParaRPr lang="en-US" sz="155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2487168"/>
            <a:ext cx="1088136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AE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RSA-2048+ com OAEP, ou curvas elípticas (EC).</a:t>
            </a:r>
            <a:endParaRPr lang="en-US" sz="1450" dirty="0"/>
          </a:p>
          <a:p>
            <a:pPr marL="203200" indent="-2032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AE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pública pode ser distribuída; a privada é secreta.</a:t>
            </a:r>
            <a:endParaRPr lang="en-US" sz="1450" dirty="0"/>
          </a:p>
          <a:p>
            <a:pPr marL="203200" indent="-2032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AE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de assinaturas digitais e do handshake TLS.</a:t>
            </a:r>
            <a:endParaRPr lang="en-US" sz="14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2A344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551615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E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5029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Assimétrica — par de chaves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914400" y="2194560"/>
            <a:ext cx="2560320" cy="914400"/>
          </a:xfrm>
          <a:prstGeom prst="roundRect">
            <a:avLst>
              <a:gd name="adj" fmla="val 6000"/>
            </a:avLst>
          </a:prstGeom>
          <a:solidFill>
            <a:srgbClr val="AECBFA"/>
          </a:solidFill>
          <a:ln w="12700">
            <a:solidFill>
              <a:srgbClr val="0F162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60120" y="2194560"/>
            <a:ext cx="2468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300" b="1" dirty="0">
                <a:solidFill>
                  <a:srgbClr val="1B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Texto claro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566160" y="2514600"/>
            <a:ext cx="457200" cy="274320"/>
          </a:xfrm>
          <a:prstGeom prst="rightArrow">
            <a:avLst/>
          </a:prstGeom>
          <a:solidFill>
            <a:srgbClr val="5AA17A"/>
          </a:solidFill>
          <a:ln/>
        </p:spPr>
      </p:sp>
      <p:sp>
        <p:nvSpPr>
          <p:cNvPr id="7" name="Shape 5"/>
          <p:cNvSpPr/>
          <p:nvPr/>
        </p:nvSpPr>
        <p:spPr>
          <a:xfrm>
            <a:off x="4114800" y="2194560"/>
            <a:ext cx="2743200" cy="914400"/>
          </a:xfrm>
          <a:prstGeom prst="roundRect">
            <a:avLst>
              <a:gd name="adj" fmla="val 6000"/>
            </a:avLst>
          </a:prstGeom>
          <a:solidFill>
            <a:srgbClr val="BFE3CE"/>
          </a:solidFill>
          <a:ln w="12700">
            <a:solidFill>
              <a:srgbClr val="0F162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160520" y="2194560"/>
            <a:ext cx="2651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200" b="1" dirty="0">
                <a:solidFill>
                  <a:srgbClr val="1B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cifra com</a:t>
            </a:r>
            <a:endParaRPr lang="en-US" sz="120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1200" b="1" dirty="0">
                <a:solidFill>
                  <a:srgbClr val="1B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chave PÚBLICA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949440" y="2514600"/>
            <a:ext cx="457200" cy="274320"/>
          </a:xfrm>
          <a:prstGeom prst="rightArrow">
            <a:avLst/>
          </a:prstGeom>
          <a:solidFill>
            <a:srgbClr val="5AA17A"/>
          </a:solidFill>
          <a:ln/>
        </p:spPr>
      </p:sp>
      <p:sp>
        <p:nvSpPr>
          <p:cNvPr id="10" name="Shape 8"/>
          <p:cNvSpPr/>
          <p:nvPr/>
        </p:nvSpPr>
        <p:spPr>
          <a:xfrm>
            <a:off x="7498080" y="2194560"/>
            <a:ext cx="2743200" cy="914400"/>
          </a:xfrm>
          <a:prstGeom prst="roundRect">
            <a:avLst>
              <a:gd name="adj" fmla="val 6000"/>
            </a:avLst>
          </a:prstGeom>
          <a:solidFill>
            <a:srgbClr val="F3C98B"/>
          </a:solidFill>
          <a:ln w="12700">
            <a:solidFill>
              <a:srgbClr val="0F162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543800" y="2194560"/>
            <a:ext cx="2651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200" b="1" dirty="0">
                <a:solidFill>
                  <a:srgbClr val="1B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decifra com</a:t>
            </a:r>
            <a:endParaRPr lang="en-US" sz="120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1200" b="1" dirty="0">
                <a:solidFill>
                  <a:srgbClr val="1B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chave PRIVADA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85800" y="3840480"/>
            <a:ext cx="10835640" cy="896112"/>
          </a:xfrm>
          <a:prstGeom prst="roundRect">
            <a:avLst>
              <a:gd name="adj" fmla="val 5102"/>
            </a:avLst>
          </a:prstGeom>
          <a:solidFill>
            <a:srgbClr val="20303F"/>
          </a:solidFill>
          <a:ln w="9525">
            <a:solidFill>
              <a:srgbClr val="9CC0E8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68680" y="3913632"/>
            <a:ext cx="104698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9CC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TLS é híbrido: 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E4EA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 assimétrica para trocar uma chave e depois simétrica (rápida) para os dados da sessão.</a:t>
            </a:r>
            <a:endParaRPr lang="en-US" sz="12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2A344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551615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E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5029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Algoritmos: aprovados x obsoletos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5349240" cy="2377440"/>
          </a:xfrm>
          <a:prstGeom prst="roundRect">
            <a:avLst>
              <a:gd name="adj" fmla="val 2308"/>
            </a:avLst>
          </a:prstGeom>
          <a:solidFill>
            <a:srgbClr val="2E5E43"/>
          </a:solidFill>
          <a:ln w="15875">
            <a:solidFill>
              <a:srgbClr val="4E856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41248" y="1865376"/>
            <a:ext cx="49469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Usar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841248" y="2267712"/>
            <a:ext cx="494690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E8F2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AES-256-GCM (cifra autenticada)</a:t>
            </a:r>
            <a:endParaRPr lang="en-US" sz="12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E8F2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RSA-2048+ com OAEP</a:t>
            </a:r>
            <a:endParaRPr lang="en-US" sz="12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E8F2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SHA-256+ e HMAC-SHA-256</a:t>
            </a:r>
            <a:endParaRPr lang="en-US" sz="12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E8F2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bcrypt/Argon2 para senha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172200" y="1737360"/>
            <a:ext cx="5349240" cy="2377440"/>
          </a:xfrm>
          <a:prstGeom prst="roundRect">
            <a:avLst>
              <a:gd name="adj" fmla="val 2308"/>
            </a:avLst>
          </a:prstGeom>
          <a:solidFill>
            <a:srgbClr val="27303F"/>
          </a:solidFill>
          <a:ln w="15875">
            <a:solidFill>
              <a:srgbClr val="4E8567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373368" y="1865376"/>
            <a:ext cx="49469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Evitar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6373368" y="2267712"/>
            <a:ext cx="494690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AE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 / 3DES / RC4</a:t>
            </a:r>
            <a:endParaRPr lang="en-US" sz="12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AE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MD5 / SHA-1 (para segurança)</a:t>
            </a:r>
            <a:endParaRPr lang="en-US" sz="12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AE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RSA PKCS#1 v1.5 puro</a:t>
            </a:r>
            <a:endParaRPr lang="en-US" sz="12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AE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AES-ECB (padrões vazam)</a:t>
            </a:r>
            <a:endParaRPr lang="en-US" sz="12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2A344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551615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E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5029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Nunca use ECB — prefira GCM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481328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550" i="1" dirty="0">
                <a:solidFill>
                  <a:srgbClr val="D7D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modo ECB, blocos iguais viram cifra igual — o padrão do dado vaza (o clássico 'pinguim ECB').</a:t>
            </a:r>
            <a:endParaRPr lang="en-US" sz="155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2487168"/>
            <a:ext cx="1088136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ECB: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AE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determinístico, sem integridade — inseguro.</a:t>
            </a:r>
            <a:endParaRPr lang="en-US" sz="1450" dirty="0"/>
          </a:p>
          <a:p>
            <a:pPr marL="203200" indent="-2032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GCM: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AE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cifra autenticada — confidencialidade E integridade num passo.</a:t>
            </a:r>
            <a:endParaRPr lang="en-US" sz="1450" dirty="0"/>
          </a:p>
          <a:p>
            <a:pPr marL="203200" indent="-2032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AE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GCM detecta adulteração na decifragem (tag de autenticação).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640080" y="4343400"/>
            <a:ext cx="10881360" cy="676656"/>
          </a:xfrm>
          <a:prstGeom prst="roundRect">
            <a:avLst>
              <a:gd name="adj" fmla="val 6757"/>
            </a:avLst>
          </a:prstGeom>
          <a:solidFill>
            <a:srgbClr val="1F3A2E"/>
          </a:solidFill>
          <a:ln w="9525">
            <a:solidFill>
              <a:srgbClr val="7FD3A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22960" y="4416552"/>
            <a:ext cx="10515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7FD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Regra de ouro: 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E4EA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prefira AES-256-GCM — ele entrega confidencialidade e integridade juntas.</a:t>
            </a:r>
            <a:endParaRPr lang="en-US" sz="12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2A344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551615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E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45720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AA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 CLÁSSICO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749808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"Criptografar" não é "codificar"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481328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550" i="1" dirty="0">
                <a:solidFill>
                  <a:srgbClr val="D7D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erro mais comum de criptografia é não usar criptografia nenhuma.</a:t>
            </a:r>
            <a:endParaRPr lang="en-US" sz="155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487168"/>
            <a:ext cx="1088136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Base64: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AE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codificação — reversível SEM chave. Não protege.</a:t>
            </a:r>
            <a:endParaRPr lang="en-US" sz="1450" dirty="0"/>
          </a:p>
          <a:p>
            <a:pPr marL="203200" indent="-2032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Cifra: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AE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exige chave para reverter. Protege.</a:t>
            </a:r>
            <a:endParaRPr lang="en-US" sz="1450" dirty="0"/>
          </a:p>
          <a:p>
            <a:pPr marL="203200" indent="-2032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AE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Confundir os dois dá falso senso de segurança.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640080" y="4343400"/>
            <a:ext cx="10881360" cy="676656"/>
          </a:xfrm>
          <a:prstGeom prst="roundRect">
            <a:avLst>
              <a:gd name="adj" fmla="val 6757"/>
            </a:avLst>
          </a:prstGeom>
          <a:solidFill>
            <a:srgbClr val="3A2E1E"/>
          </a:solidFill>
          <a:ln w="9525">
            <a:solidFill>
              <a:srgbClr val="E8B36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22960" y="4416552"/>
            <a:ext cx="10515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E8B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Portal: 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E4EA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dados de pagamento estão em Base64; no Lab 4.1 decodificamos ao vivo para provar.</a:t>
            </a:r>
            <a:endParaRPr lang="en-US" sz="12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2A344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551615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E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5029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Base64 — qualquer um reverte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914400" y="2377440"/>
            <a:ext cx="2926080" cy="914400"/>
          </a:xfrm>
          <a:prstGeom prst="roundRect">
            <a:avLst>
              <a:gd name="adj" fmla="val 6000"/>
            </a:avLst>
          </a:prstGeom>
          <a:solidFill>
            <a:srgbClr val="AECBFA"/>
          </a:solidFill>
          <a:ln w="12700">
            <a:solidFill>
              <a:srgbClr val="0F162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60120" y="2377440"/>
            <a:ext cx="2834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200" b="1" dirty="0">
                <a:solidFill>
                  <a:srgbClr val="1B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VISA 4111...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931920" y="2697480"/>
            <a:ext cx="548640" cy="274320"/>
          </a:xfrm>
          <a:prstGeom prst="rightArrow">
            <a:avLst/>
          </a:prstGeom>
          <a:solidFill>
            <a:srgbClr val="E0605F"/>
          </a:solidFill>
          <a:ln/>
        </p:spPr>
      </p:sp>
      <p:sp>
        <p:nvSpPr>
          <p:cNvPr id="7" name="Shape 5"/>
          <p:cNvSpPr/>
          <p:nvPr/>
        </p:nvSpPr>
        <p:spPr>
          <a:xfrm>
            <a:off x="4572000" y="2377440"/>
            <a:ext cx="3291840" cy="914400"/>
          </a:xfrm>
          <a:prstGeom prst="roundRect">
            <a:avLst>
              <a:gd name="adj" fmla="val 6000"/>
            </a:avLst>
          </a:prstGeom>
          <a:solidFill>
            <a:srgbClr val="E9EDF2"/>
          </a:solidFill>
          <a:ln w="12700">
            <a:solidFill>
              <a:srgbClr val="0F162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617720" y="2377440"/>
            <a:ext cx="320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100" b="1" dirty="0">
                <a:solidFill>
                  <a:srgbClr val="1B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Base64 encode</a:t>
            </a:r>
            <a:endParaRPr lang="en-US" sz="110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1100" b="1" dirty="0">
                <a:solidFill>
                  <a:srgbClr val="1B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VklTQSA0MTEx...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7955280" y="2697480"/>
            <a:ext cx="548640" cy="274320"/>
          </a:xfrm>
          <a:prstGeom prst="rightArrow">
            <a:avLst/>
          </a:prstGeom>
          <a:solidFill>
            <a:srgbClr val="E0605F"/>
          </a:solidFill>
          <a:ln/>
        </p:spPr>
      </p:sp>
      <p:sp>
        <p:nvSpPr>
          <p:cNvPr id="10" name="Shape 8"/>
          <p:cNvSpPr/>
          <p:nvPr/>
        </p:nvSpPr>
        <p:spPr>
          <a:xfrm>
            <a:off x="8595360" y="2377440"/>
            <a:ext cx="2926080" cy="914400"/>
          </a:xfrm>
          <a:prstGeom prst="roundRect">
            <a:avLst>
              <a:gd name="adj" fmla="val 6000"/>
            </a:avLst>
          </a:prstGeom>
          <a:solidFill>
            <a:srgbClr val="F6B8B6"/>
          </a:solidFill>
          <a:ln w="12700">
            <a:solidFill>
              <a:srgbClr val="0F162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641080" y="2377440"/>
            <a:ext cx="2834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100" b="1" dirty="0">
                <a:solidFill>
                  <a:srgbClr val="1B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decode → VISA 4111...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914400" y="34747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0C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chave em nenhum ponto — é só troca de formato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40080" y="4114800"/>
            <a:ext cx="10881360" cy="896112"/>
          </a:xfrm>
          <a:prstGeom prst="roundRect">
            <a:avLst>
              <a:gd name="adj" fmla="val 5102"/>
            </a:avLst>
          </a:prstGeom>
          <a:solidFill>
            <a:srgbClr val="20303F"/>
          </a:solidFill>
          <a:ln w="9525">
            <a:solidFill>
              <a:srgbClr val="9CC0E8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22960" y="4187952"/>
            <a:ext cx="10515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9CC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Analogia: 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E4EA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Base64 é escrever de trás para frente — parece embaralhado, mas qualquer um lê no espelho.</a:t>
            </a:r>
            <a:endParaRPr lang="en-US" sz="12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222B3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188720" y="4114800"/>
            <a:ext cx="3840480" cy="3840480"/>
          </a:xfrm>
          <a:prstGeom prst="ellipse">
            <a:avLst/>
          </a:prstGeom>
          <a:solidFill>
            <a:srgbClr val="1A222E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31520" y="2011680"/>
            <a:ext cx="4572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5AA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46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3200400"/>
            <a:ext cx="10515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Chaves e Aleatoriedade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434340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AE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cifra só é tão forte quanto o sigilo da chave e a qualidade do acaso.</a:t>
            </a:r>
            <a:endParaRPr lang="en-US" sz="14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2A344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551615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E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5029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Gestão de chaves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481328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550" i="1" dirty="0">
                <a:solidFill>
                  <a:srgbClr val="D7D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chave não mora no código — nunca.</a:t>
            </a:r>
            <a:endParaRPr lang="en-US" sz="155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2487168"/>
            <a:ext cx="1088136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AE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KMS/HSM/Vault; no mínimo, variáveis de ambiente.</a:t>
            </a:r>
            <a:endParaRPr lang="en-US" sz="1450" dirty="0"/>
          </a:p>
          <a:p>
            <a:pPr marL="203200" indent="-2032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AE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Rotacione e dê escopo mínimo.</a:t>
            </a:r>
            <a:endParaRPr lang="en-US" sz="1450" dirty="0"/>
          </a:p>
          <a:p>
            <a:pPr marL="203200" indent="-2032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AE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Separe a chave do dado (não guarde a chave ao lado do ciphertext).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640080" y="4343400"/>
            <a:ext cx="10881360" cy="676656"/>
          </a:xfrm>
          <a:prstGeom prst="roundRect">
            <a:avLst>
              <a:gd name="adj" fmla="val 6757"/>
            </a:avLst>
          </a:prstGeom>
          <a:solidFill>
            <a:srgbClr val="3A2E1E"/>
          </a:solidFill>
          <a:ln w="9525">
            <a:solidFill>
              <a:srgbClr val="E8B36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22960" y="4416552"/>
            <a:ext cx="10515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E8B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 comum: 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E4EA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commitar a chave 'só para testar' — ela vive para sempre no histórico do git.</a:t>
            </a:r>
            <a:endParaRPr lang="en-US" sz="12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2A344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551615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E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5029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Onde a chave deve morar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2194560"/>
            <a:ext cx="3108960" cy="914400"/>
          </a:xfrm>
          <a:prstGeom prst="roundRect">
            <a:avLst>
              <a:gd name="adj" fmla="val 6000"/>
            </a:avLst>
          </a:prstGeom>
          <a:solidFill>
            <a:srgbClr val="F6B8B6"/>
          </a:solidFill>
          <a:ln w="12700">
            <a:solidFill>
              <a:srgbClr val="0F162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219456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200" b="1" dirty="0">
                <a:solidFill>
                  <a:srgbClr val="1B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Código-fonte</a:t>
            </a:r>
            <a:endParaRPr lang="en-US" sz="120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1200" b="1" dirty="0">
                <a:solidFill>
                  <a:srgbClr val="1B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 application.yml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114800" y="2194560"/>
            <a:ext cx="3108960" cy="914400"/>
          </a:xfrm>
          <a:prstGeom prst="roundRect">
            <a:avLst>
              <a:gd name="adj" fmla="val 6000"/>
            </a:avLst>
          </a:prstGeom>
          <a:solidFill>
            <a:srgbClr val="F3E1B5"/>
          </a:solidFill>
          <a:ln w="12700">
            <a:solidFill>
              <a:srgbClr val="0F162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160520" y="219456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200" b="1" dirty="0">
                <a:solidFill>
                  <a:srgbClr val="1B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Variável de</a:t>
            </a:r>
            <a:endParaRPr lang="en-US" sz="120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1200" b="1" dirty="0">
                <a:solidFill>
                  <a:srgbClr val="1B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ambiente (mínimo)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7589520" y="2194560"/>
            <a:ext cx="3566160" cy="914400"/>
          </a:xfrm>
          <a:prstGeom prst="roundRect">
            <a:avLst>
              <a:gd name="adj" fmla="val 6000"/>
            </a:avLst>
          </a:prstGeom>
          <a:solidFill>
            <a:srgbClr val="BFE3CE"/>
          </a:solidFill>
          <a:ln w="12700">
            <a:solidFill>
              <a:srgbClr val="0F162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635240" y="2194560"/>
            <a:ext cx="3474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200" b="1" dirty="0">
                <a:solidFill>
                  <a:srgbClr val="1B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KMS / HSM / Vault</a:t>
            </a:r>
            <a:endParaRPr lang="en-US" sz="120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1200" b="1" dirty="0">
                <a:solidFill>
                  <a:srgbClr val="1B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(ideal)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794760" y="2514600"/>
            <a:ext cx="274320" cy="274320"/>
          </a:xfrm>
          <a:prstGeom prst="rightArrow">
            <a:avLst/>
          </a:prstGeom>
          <a:solidFill>
            <a:srgbClr val="AEB7C4"/>
          </a:solidFill>
          <a:ln/>
        </p:spPr>
      </p:sp>
      <p:sp>
        <p:nvSpPr>
          <p:cNvPr id="11" name="Shape 9"/>
          <p:cNvSpPr/>
          <p:nvPr/>
        </p:nvSpPr>
        <p:spPr>
          <a:xfrm>
            <a:off x="7269480" y="2514600"/>
            <a:ext cx="274320" cy="274320"/>
          </a:xfrm>
          <a:prstGeom prst="rightArrow">
            <a:avLst/>
          </a:prstGeom>
          <a:solidFill>
            <a:srgbClr val="AEB7C4"/>
          </a:solidFill>
          <a:ln/>
        </p:spPr>
      </p:sp>
      <p:sp>
        <p:nvSpPr>
          <p:cNvPr id="12" name="Shape 10"/>
          <p:cNvSpPr/>
          <p:nvPr/>
        </p:nvSpPr>
        <p:spPr>
          <a:xfrm>
            <a:off x="640080" y="3657600"/>
            <a:ext cx="10881360" cy="676656"/>
          </a:xfrm>
          <a:prstGeom prst="roundRect">
            <a:avLst>
              <a:gd name="adj" fmla="val 6757"/>
            </a:avLst>
          </a:prstGeom>
          <a:solidFill>
            <a:srgbClr val="1F3A2E"/>
          </a:solidFill>
          <a:ln w="9525">
            <a:solidFill>
              <a:srgbClr val="7FD3A6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22960" y="3730752"/>
            <a:ext cx="10515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7FD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Portal: 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E4EA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chave de cifra vem de PORTAL_CRYPTO_KEY (env), não do código.</a:t>
            </a:r>
            <a:endParaRPr lang="en-US" sz="12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2A344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551615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E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45720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AA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FUNDAMENTO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749808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SecureRandom — o acaso certo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481328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550" i="1" dirty="0">
                <a:solidFill>
                  <a:srgbClr val="D7D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Aleatoriedade de segurança não é a mesma de um jogo.</a:t>
            </a:r>
            <a:endParaRPr lang="en-US" sz="155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487168"/>
            <a:ext cx="1088136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AE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java.security.SecureRandom (CSPRNG) para chaves, IVs e tokens.</a:t>
            </a:r>
            <a:endParaRPr lang="en-US" sz="1450" dirty="0"/>
          </a:p>
          <a:p>
            <a:pPr marL="203200" indent="-2032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AE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NUNCA use java.util.Random ou Math.random() para segurança.</a:t>
            </a:r>
            <a:endParaRPr lang="en-US" sz="1450" dirty="0"/>
          </a:p>
          <a:p>
            <a:pPr marL="203200" indent="-2032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AE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é previsível — o atacante reproduz a sequência.</a:t>
            </a:r>
            <a:endParaRPr lang="en-US" sz="14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2A344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551615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E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5029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IV / nonce — único por operação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2194560"/>
            <a:ext cx="5120640" cy="1005840"/>
          </a:xfrm>
          <a:prstGeom prst="roundRect">
            <a:avLst>
              <a:gd name="adj" fmla="val 5455"/>
            </a:avLst>
          </a:prstGeom>
          <a:solidFill>
            <a:srgbClr val="F6B8B6"/>
          </a:solidFill>
          <a:ln w="12700">
            <a:solidFill>
              <a:srgbClr val="0F162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2194560"/>
            <a:ext cx="5029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200" b="1" dirty="0">
                <a:solidFill>
                  <a:srgbClr val="1B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Mesma chave + MESMO IV</a:t>
            </a:r>
            <a:endParaRPr lang="en-US" sz="120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1200" b="1" dirty="0">
                <a:solidFill>
                  <a:srgbClr val="1B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(reuso)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329184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0C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quebra a confidencialidade do GCM (catastrófico)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6309360" y="2194560"/>
            <a:ext cx="5120640" cy="1005840"/>
          </a:xfrm>
          <a:prstGeom prst="roundRect">
            <a:avLst>
              <a:gd name="adj" fmla="val 5455"/>
            </a:avLst>
          </a:prstGeom>
          <a:solidFill>
            <a:srgbClr val="BFE3CE"/>
          </a:solidFill>
          <a:ln w="12700">
            <a:solidFill>
              <a:srgbClr val="0F162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355080" y="2194560"/>
            <a:ext cx="5029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200" b="1" dirty="0">
                <a:solidFill>
                  <a:srgbClr val="1B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Mesma chave + IV NOVO</a:t>
            </a:r>
            <a:endParaRPr lang="en-US" sz="120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1200" b="1" dirty="0">
                <a:solidFill>
                  <a:srgbClr val="1B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operação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6309360" y="329184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FE6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seguro; gere o IV com SecureRandom (12 bytes)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40080" y="4023360"/>
            <a:ext cx="10881360" cy="896112"/>
          </a:xfrm>
          <a:prstGeom prst="roundRect">
            <a:avLst>
              <a:gd name="adj" fmla="val 5102"/>
            </a:avLst>
          </a:prstGeom>
          <a:solidFill>
            <a:srgbClr val="1F3A2E"/>
          </a:solidFill>
          <a:ln w="9525">
            <a:solidFill>
              <a:srgbClr val="7FD3A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22960" y="4096512"/>
            <a:ext cx="10515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7FD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Analogia: 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E4EA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IV é o tempero único por prato; repetir o mesmo tempero com a mesma receita entrega o segredo.</a:t>
            </a:r>
            <a:endParaRPr lang="en-US" sz="12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222B3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188720" y="4114800"/>
            <a:ext cx="3840480" cy="3840480"/>
          </a:xfrm>
          <a:prstGeom prst="ellipse">
            <a:avLst/>
          </a:prstGeom>
          <a:solidFill>
            <a:srgbClr val="1A222E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31520" y="2011680"/>
            <a:ext cx="4572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5AA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46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3200400"/>
            <a:ext cx="10515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Criptografia em Java (JCA/JCE)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434340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AE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AES-256-GCM na prática — e os erros de TLS que anulam tudo.</a:t>
            </a:r>
            <a:endParaRPr lang="en-US" sz="14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2A344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551615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E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45720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AA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749808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AES-256-GCM na prática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55448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550" i="1" dirty="0">
                <a:solidFill>
                  <a:srgbClr val="D7D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Cifrando corretamente com a API padrão da plataforma (JCA/JCE).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640080" y="2560320"/>
            <a:ext cx="10881360" cy="1188720"/>
          </a:xfrm>
          <a:prstGeom prst="roundRect">
            <a:avLst>
              <a:gd name="adj" fmla="val 3846"/>
            </a:avLst>
          </a:prstGeom>
          <a:solidFill>
            <a:srgbClr val="141B27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22960" y="2670048"/>
            <a:ext cx="1051560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byte[] iv = new byte[12]; new SecureRandom().nextBytes(iv);   // IV único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Cipher c = Cipher.getInstance("AES/GCM/NoPadding");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c.init(Cipher.ENCRYPT_MODE, key, new GCMParameterSpec(128, iv));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byte[] ct = c.doFinal(claro.getBytes(UTF_8));                 // guarde iv || ct (tag junto)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40080" y="4754880"/>
            <a:ext cx="10881360" cy="896112"/>
          </a:xfrm>
          <a:prstGeom prst="roundRect">
            <a:avLst>
              <a:gd name="adj" fmla="val 5102"/>
            </a:avLst>
          </a:prstGeom>
          <a:solidFill>
            <a:srgbClr val="1F3A2E"/>
          </a:solidFill>
          <a:ln w="9525">
            <a:solidFill>
              <a:srgbClr val="7FD3A6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22960" y="4828032"/>
            <a:ext cx="10515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7FD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Portal: 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E4EA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 a correção do Lab 4.1; na decifragem, o GCM verifica a integridade (adulteração é detectada).</a:t>
            </a:r>
            <a:endParaRPr lang="en-US" sz="12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2A344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551615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E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5029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é persistido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097280" y="2377440"/>
            <a:ext cx="1828800" cy="914400"/>
          </a:xfrm>
          <a:prstGeom prst="roundRect">
            <a:avLst>
              <a:gd name="adj" fmla="val 6000"/>
            </a:avLst>
          </a:prstGeom>
          <a:solidFill>
            <a:srgbClr val="F3E1B5"/>
          </a:solidFill>
          <a:ln w="12700">
            <a:solidFill>
              <a:srgbClr val="0F162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143000" y="2377440"/>
            <a:ext cx="1737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200" b="1" dirty="0">
                <a:solidFill>
                  <a:srgbClr val="1B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IV (12B)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108960" y="2377440"/>
            <a:ext cx="2926080" cy="914400"/>
          </a:xfrm>
          <a:prstGeom prst="roundRect">
            <a:avLst>
              <a:gd name="adj" fmla="val 6000"/>
            </a:avLst>
          </a:prstGeom>
          <a:solidFill>
            <a:srgbClr val="E9EDF2"/>
          </a:solidFill>
          <a:ln w="12700">
            <a:solidFill>
              <a:srgbClr val="0F162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154680" y="2377440"/>
            <a:ext cx="2834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200" b="1" dirty="0">
                <a:solidFill>
                  <a:srgbClr val="1B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Ciphertext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217920" y="2377440"/>
            <a:ext cx="1828800" cy="914400"/>
          </a:xfrm>
          <a:prstGeom prst="roundRect">
            <a:avLst>
              <a:gd name="adj" fmla="val 6000"/>
            </a:avLst>
          </a:prstGeom>
          <a:solidFill>
            <a:srgbClr val="BFE3CE"/>
          </a:solidFill>
          <a:ln w="12700">
            <a:solidFill>
              <a:srgbClr val="0F162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263640" y="2377440"/>
            <a:ext cx="1737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200" b="1" dirty="0">
                <a:solidFill>
                  <a:srgbClr val="1B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Tag (16B)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229600" y="2697480"/>
            <a:ext cx="457200" cy="274320"/>
          </a:xfrm>
          <a:prstGeom prst="rightArrow">
            <a:avLst/>
          </a:prstGeom>
          <a:solidFill>
            <a:srgbClr val="5AA17A"/>
          </a:solidFill>
          <a:ln/>
        </p:spPr>
      </p:sp>
      <p:sp>
        <p:nvSpPr>
          <p:cNvPr id="11" name="Shape 9"/>
          <p:cNvSpPr/>
          <p:nvPr/>
        </p:nvSpPr>
        <p:spPr>
          <a:xfrm>
            <a:off x="8778240" y="2377440"/>
            <a:ext cx="2743200" cy="914400"/>
          </a:xfrm>
          <a:prstGeom prst="roundRect">
            <a:avLst>
              <a:gd name="adj" fmla="val 6000"/>
            </a:avLst>
          </a:prstGeom>
          <a:solidFill>
            <a:srgbClr val="AECBFA"/>
          </a:solidFill>
          <a:ln w="12700">
            <a:solidFill>
              <a:srgbClr val="0F162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823960" y="2377440"/>
            <a:ext cx="2651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100" b="1" dirty="0">
                <a:solidFill>
                  <a:srgbClr val="1B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Base64</a:t>
            </a:r>
            <a:endParaRPr lang="en-US" sz="110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1100" b="1" dirty="0">
                <a:solidFill>
                  <a:srgbClr val="1B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(transporte)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1097280" y="3474720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E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IV || ciphertext || tag  →  guardado junto (Base64 aqui é só transporte do dado JÁ cifrado)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40080" y="4114800"/>
            <a:ext cx="10881360" cy="896112"/>
          </a:xfrm>
          <a:prstGeom prst="roundRect">
            <a:avLst>
              <a:gd name="adj" fmla="val 5102"/>
            </a:avLst>
          </a:prstGeom>
          <a:solidFill>
            <a:srgbClr val="20303F"/>
          </a:solidFill>
          <a:ln w="9525">
            <a:solidFill>
              <a:srgbClr val="9CC0E8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22960" y="4187952"/>
            <a:ext cx="10515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9CC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Diferença crucial: 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E4EA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aqui o dado já está cifrado; o Base64 apenas o transporta — oposto do baseline.</a:t>
            </a:r>
            <a:endParaRPr lang="en-US" sz="12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2A344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551615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E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5029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TLS — o dado em trânsito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481328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550" i="1" dirty="0">
                <a:solidFill>
                  <a:srgbClr val="D7D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Cifrar em repouso não basta; o dado também precisa de proteção no caminho.</a:t>
            </a:r>
            <a:endParaRPr lang="en-US" sz="155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2487168"/>
            <a:ext cx="1088136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AE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Exija TLS 1.2+ (idealmente 1.3) com cipher suites fortes.</a:t>
            </a:r>
            <a:endParaRPr lang="en-US" sz="1450" dirty="0"/>
          </a:p>
          <a:p>
            <a:pPr marL="203200" indent="-2032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AE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clientes controlados (mobile), considere certificate pinning.</a:t>
            </a:r>
            <a:endParaRPr lang="en-US" sz="1450" dirty="0"/>
          </a:p>
          <a:p>
            <a:pPr marL="203200" indent="-2032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AE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handshake usa assimétrica para negociar a chave da sessão.</a:t>
            </a:r>
            <a:endParaRPr lang="en-US" sz="14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2A344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551615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E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5029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anti-padrão que anula o TLS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55448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550" i="1" dirty="0">
                <a:solidFill>
                  <a:srgbClr val="D7D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TrustManager permissivo confia em QUALQUER certificado — desligando toda a proteção do TLS.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640080" y="2560320"/>
            <a:ext cx="10881360" cy="731520"/>
          </a:xfrm>
          <a:prstGeom prst="roundRect">
            <a:avLst>
              <a:gd name="adj" fmla="val 6250"/>
            </a:avLst>
          </a:prstGeom>
          <a:solidFill>
            <a:srgbClr val="141B27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22960" y="2670048"/>
            <a:ext cx="10515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NUNCA faça isto: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 X509TrustManager(){ public void checkServerTrusted(...){ /* aceita tudo */ } }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40080" y="3840480"/>
            <a:ext cx="10881360" cy="896112"/>
          </a:xfrm>
          <a:prstGeom prst="roundRect">
            <a:avLst>
              <a:gd name="adj" fmla="val 5102"/>
            </a:avLst>
          </a:prstGeom>
          <a:solidFill>
            <a:srgbClr val="3A2E1E"/>
          </a:solidFill>
          <a:ln w="9525">
            <a:solidFill>
              <a:srgbClr val="E8B36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22960" y="3913632"/>
            <a:ext cx="10515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E8B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Regra de ouro: 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E4EA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nunca desabilite a verificação de certificado 'para funcionar' — é abrir a porta para man-in-the-middle.</a:t>
            </a:r>
            <a:endParaRPr lang="en-US" sz="12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2A344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551615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E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5029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Portal — o que o lab vai corrigir (cripto)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572768"/>
            <a:ext cx="1088136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Dados de pagamento: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AE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Base64 → AES-256-GCM (chave em env, IV com SecureRandom).</a:t>
            </a:r>
            <a:endParaRPr lang="en-US" sz="1450" dirty="0"/>
          </a:p>
          <a:p>
            <a:pPr marL="203200" indent="-2032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Chave: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AE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sai do application.yml para variável de ambiente.</a:t>
            </a:r>
            <a:endParaRPr lang="en-US" sz="1450" dirty="0"/>
          </a:p>
          <a:p>
            <a:pPr marL="203200" indent="-2032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Integridade: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AE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GCM detecta adulteração automaticamente.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640080" y="4297680"/>
            <a:ext cx="10881360" cy="676656"/>
          </a:xfrm>
          <a:prstGeom prst="roundRect">
            <a:avLst>
              <a:gd name="adj" fmla="val 6757"/>
            </a:avLst>
          </a:prstGeom>
          <a:solidFill>
            <a:srgbClr val="1F3A2E"/>
          </a:solidFill>
          <a:ln w="9525">
            <a:solidFill>
              <a:srgbClr val="7FD3A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4370832"/>
            <a:ext cx="10515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7FD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Próximo: 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E4EA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 parte de sessão, atacamos o JWT sem verificação e os cookies inseguros.</a:t>
            </a:r>
            <a:endParaRPr lang="en-US" sz="12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222B3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188720" y="4114800"/>
            <a:ext cx="3840480" cy="3840480"/>
          </a:xfrm>
          <a:prstGeom prst="ellipse">
            <a:avLst/>
          </a:prstGeom>
          <a:solidFill>
            <a:srgbClr val="1A222E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31520" y="2011680"/>
            <a:ext cx="4572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5AA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46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3200400"/>
            <a:ext cx="10515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Gestão de Sessão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434340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AE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o servidor 'lembra' de você — sem deixar sequestrarem a sessão.</a:t>
            </a:r>
            <a:endParaRPr lang="en-US" sz="14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2A344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551615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E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5029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é sem memória — como manter o login?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22960" y="2286000"/>
            <a:ext cx="3108960" cy="1005840"/>
          </a:xfrm>
          <a:prstGeom prst="roundRect">
            <a:avLst>
              <a:gd name="adj" fmla="val 5455"/>
            </a:avLst>
          </a:prstGeom>
          <a:solidFill>
            <a:srgbClr val="AECBFA"/>
          </a:solidFill>
          <a:ln w="12700">
            <a:solidFill>
              <a:srgbClr val="0F162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68680" y="2286000"/>
            <a:ext cx="3017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200" b="1" dirty="0">
                <a:solidFill>
                  <a:srgbClr val="1B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Requisição 1</a:t>
            </a:r>
            <a:endParaRPr lang="en-US" sz="120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1200" b="1" dirty="0">
                <a:solidFill>
                  <a:srgbClr val="1B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(login)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023360" y="2697480"/>
            <a:ext cx="548640" cy="274320"/>
          </a:xfrm>
          <a:prstGeom prst="rightArrow">
            <a:avLst/>
          </a:prstGeom>
          <a:solidFill>
            <a:srgbClr val="5AA17A"/>
          </a:solidFill>
          <a:ln/>
        </p:spPr>
      </p:sp>
      <p:sp>
        <p:nvSpPr>
          <p:cNvPr id="7" name="Shape 5"/>
          <p:cNvSpPr/>
          <p:nvPr/>
        </p:nvSpPr>
        <p:spPr>
          <a:xfrm>
            <a:off x="4663440" y="2286000"/>
            <a:ext cx="3108960" cy="1005840"/>
          </a:xfrm>
          <a:prstGeom prst="roundRect">
            <a:avLst>
              <a:gd name="adj" fmla="val 5455"/>
            </a:avLst>
          </a:prstGeom>
          <a:solidFill>
            <a:srgbClr val="BFE3CE"/>
          </a:solidFill>
          <a:ln w="12700">
            <a:solidFill>
              <a:srgbClr val="0F162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709160" y="2286000"/>
            <a:ext cx="3017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200" b="1" dirty="0">
                <a:solidFill>
                  <a:srgbClr val="1B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Servidor emite</a:t>
            </a:r>
            <a:endParaRPr lang="en-US" sz="120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1200" b="1" dirty="0">
                <a:solidFill>
                  <a:srgbClr val="1B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cookie/token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863840" y="2697480"/>
            <a:ext cx="548640" cy="274320"/>
          </a:xfrm>
          <a:prstGeom prst="rightArrow">
            <a:avLst/>
          </a:prstGeom>
          <a:solidFill>
            <a:srgbClr val="5AA17A"/>
          </a:solidFill>
          <a:ln/>
        </p:spPr>
      </p:sp>
      <p:sp>
        <p:nvSpPr>
          <p:cNvPr id="10" name="Shape 8"/>
          <p:cNvSpPr/>
          <p:nvPr/>
        </p:nvSpPr>
        <p:spPr>
          <a:xfrm>
            <a:off x="8503920" y="2286000"/>
            <a:ext cx="3108960" cy="1005840"/>
          </a:xfrm>
          <a:prstGeom prst="roundRect">
            <a:avLst>
              <a:gd name="adj" fmla="val 5455"/>
            </a:avLst>
          </a:prstGeom>
          <a:solidFill>
            <a:srgbClr val="E9EDF2"/>
          </a:solidFill>
          <a:ln w="12700">
            <a:solidFill>
              <a:srgbClr val="0F162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549640" y="2286000"/>
            <a:ext cx="3017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200" b="1" dirty="0">
                <a:solidFill>
                  <a:srgbClr val="1B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Requisições 2..N</a:t>
            </a:r>
            <a:endParaRPr lang="en-US" sz="120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1200" b="1" dirty="0">
                <a:solidFill>
                  <a:srgbClr val="1B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reapresentam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22960" y="3931920"/>
            <a:ext cx="10789920" cy="676656"/>
          </a:xfrm>
          <a:prstGeom prst="roundRect">
            <a:avLst>
              <a:gd name="adj" fmla="val 6757"/>
            </a:avLst>
          </a:prstGeom>
          <a:solidFill>
            <a:srgbClr val="20303F"/>
          </a:solidFill>
          <a:ln w="9525">
            <a:solidFill>
              <a:srgbClr val="9CC0E8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005840" y="4005072"/>
            <a:ext cx="10424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9CC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Dois caminhos: 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E4EA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sessão stateful (JSESSIONID no servidor) ou stateless (JWT assinado no cliente).</a:t>
            </a:r>
            <a:endParaRPr lang="en-US" sz="125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2A344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551615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E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5029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Ciclo de vida seguro da sessão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481328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550" i="1" dirty="0">
                <a:solidFill>
                  <a:srgbClr val="D7D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identificador de sessão precisa ser à prova de sequestro.</a:t>
            </a:r>
            <a:endParaRPr lang="en-US" sz="155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2487168"/>
            <a:ext cx="1088136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AE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 gerado com entropia suficiente (o framework cuida).</a:t>
            </a:r>
            <a:endParaRPr lang="en-US" sz="1450" dirty="0"/>
          </a:p>
          <a:p>
            <a:pPr marL="203200" indent="-2032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AE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**Regenerar** o ID após o login (anti session fixation).</a:t>
            </a:r>
            <a:endParaRPr lang="en-US" sz="1450" dirty="0"/>
          </a:p>
          <a:p>
            <a:pPr marL="203200" indent="-2032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AE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Invalidar no logout e por timeout (inatividade + absoluto).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640080" y="4343400"/>
            <a:ext cx="10881360" cy="676656"/>
          </a:xfrm>
          <a:prstGeom prst="roundRect">
            <a:avLst>
              <a:gd name="adj" fmla="val 6757"/>
            </a:avLst>
          </a:prstGeom>
          <a:solidFill>
            <a:srgbClr val="3A2E1E"/>
          </a:solidFill>
          <a:ln w="9525">
            <a:solidFill>
              <a:srgbClr val="E8B36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22960" y="4416552"/>
            <a:ext cx="10515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E8B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Portal: 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E4EA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hoje a proteção contra fixation está desligada — o Lab 4.3 regenera o ID no login.</a:t>
            </a:r>
            <a:endParaRPr lang="en-US" sz="125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2A344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551615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E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5029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fixation — antes e depois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55448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060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Vulnerável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1920240"/>
            <a:ext cx="2286000" cy="731520"/>
          </a:xfrm>
          <a:prstGeom prst="roundRect">
            <a:avLst>
              <a:gd name="adj" fmla="val 7500"/>
            </a:avLst>
          </a:prstGeom>
          <a:solidFill>
            <a:srgbClr val="E9EDF2"/>
          </a:solidFill>
          <a:ln w="12700">
            <a:solidFill>
              <a:srgbClr val="0F162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85800" y="192024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100" b="1" dirty="0">
                <a:solidFill>
                  <a:srgbClr val="1B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 = ABC</a:t>
            </a:r>
            <a:endParaRPr lang="en-US" sz="110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1100" b="1" dirty="0">
                <a:solidFill>
                  <a:srgbClr val="1B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(pré-login)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971800" y="2148840"/>
            <a:ext cx="365760" cy="274320"/>
          </a:xfrm>
          <a:prstGeom prst="rightArrow">
            <a:avLst/>
          </a:prstGeom>
          <a:solidFill>
            <a:srgbClr val="E0605F"/>
          </a:solidFill>
          <a:ln/>
        </p:spPr>
      </p:sp>
      <p:sp>
        <p:nvSpPr>
          <p:cNvPr id="8" name="Shape 6"/>
          <p:cNvSpPr/>
          <p:nvPr/>
        </p:nvSpPr>
        <p:spPr>
          <a:xfrm>
            <a:off x="3383280" y="1920240"/>
            <a:ext cx="2377440" cy="731520"/>
          </a:xfrm>
          <a:prstGeom prst="roundRect">
            <a:avLst>
              <a:gd name="adj" fmla="val 7500"/>
            </a:avLst>
          </a:prstGeom>
          <a:solidFill>
            <a:srgbClr val="F6B8B6"/>
          </a:solidFill>
          <a:ln w="12700">
            <a:solidFill>
              <a:srgbClr val="0F162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429000" y="192024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100" b="1" dirty="0">
                <a:solidFill>
                  <a:srgbClr val="1B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login: ID continua</a:t>
            </a:r>
            <a:endParaRPr lang="en-US" sz="110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1100" b="1" dirty="0">
                <a:solidFill>
                  <a:srgbClr val="1B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ABC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269748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C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atacante que plantou ABC assume a sessão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6400800" y="155448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AA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Seguro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400800" y="1920240"/>
            <a:ext cx="2286000" cy="731520"/>
          </a:xfrm>
          <a:prstGeom prst="roundRect">
            <a:avLst>
              <a:gd name="adj" fmla="val 7500"/>
            </a:avLst>
          </a:prstGeom>
          <a:solidFill>
            <a:srgbClr val="E9EDF2"/>
          </a:solidFill>
          <a:ln w="12700">
            <a:solidFill>
              <a:srgbClr val="0F162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446520" y="192024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100" b="1" dirty="0">
                <a:solidFill>
                  <a:srgbClr val="1B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 = ABC</a:t>
            </a:r>
            <a:endParaRPr lang="en-US" sz="110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1100" b="1" dirty="0">
                <a:solidFill>
                  <a:srgbClr val="1B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(pré-login)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732520" y="2148840"/>
            <a:ext cx="365760" cy="274320"/>
          </a:xfrm>
          <a:prstGeom prst="rightArrow">
            <a:avLst/>
          </a:prstGeom>
          <a:solidFill>
            <a:srgbClr val="5AA17A"/>
          </a:solidFill>
          <a:ln/>
        </p:spPr>
      </p:sp>
      <p:sp>
        <p:nvSpPr>
          <p:cNvPr id="15" name="Shape 13"/>
          <p:cNvSpPr/>
          <p:nvPr/>
        </p:nvSpPr>
        <p:spPr>
          <a:xfrm>
            <a:off x="9144000" y="1920240"/>
            <a:ext cx="2377440" cy="731520"/>
          </a:xfrm>
          <a:prstGeom prst="roundRect">
            <a:avLst>
              <a:gd name="adj" fmla="val 7500"/>
            </a:avLst>
          </a:prstGeom>
          <a:solidFill>
            <a:srgbClr val="BFE3CE"/>
          </a:solidFill>
          <a:ln w="12700">
            <a:solidFill>
              <a:srgbClr val="0F1620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9189720" y="192024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100" b="1" dirty="0">
                <a:solidFill>
                  <a:srgbClr val="1B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login: ID = XYZ</a:t>
            </a:r>
            <a:endParaRPr lang="en-US" sz="110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1100" b="1" dirty="0">
                <a:solidFill>
                  <a:srgbClr val="1B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(regenerado)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6400800" y="269748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FE6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o ID antigo não vale mais nada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40080" y="3383280"/>
            <a:ext cx="10881360" cy="676656"/>
          </a:xfrm>
          <a:prstGeom prst="roundRect">
            <a:avLst>
              <a:gd name="adj" fmla="val 6757"/>
            </a:avLst>
          </a:prstGeom>
          <a:solidFill>
            <a:srgbClr val="1F3A2E"/>
          </a:solidFill>
          <a:ln w="9525">
            <a:solidFill>
              <a:srgbClr val="7FD3A6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22960" y="3456432"/>
            <a:ext cx="10515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7FD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Correção: 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E4EA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sessionFixation().changeSessionId() (o padrão seguro do Spring Security).</a:t>
            </a:r>
            <a:endParaRPr lang="en-US" sz="125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2A344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551615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E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5029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Cookies de sessão seguros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3520440" cy="2286000"/>
          </a:xfrm>
          <a:prstGeom prst="roundRect">
            <a:avLst>
              <a:gd name="adj" fmla="val 2400"/>
            </a:avLst>
          </a:prstGeom>
          <a:solidFill>
            <a:srgbClr val="2E5E43"/>
          </a:solidFill>
          <a:ln w="15875">
            <a:solidFill>
              <a:srgbClr val="4E856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41248" y="1865376"/>
            <a:ext cx="31181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HttpOnly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841248" y="2267712"/>
            <a:ext cx="3118104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E8F2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 não lê o cookie</a:t>
            </a:r>
            <a:endParaRPr lang="en-US" sz="12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E8F2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 roubo via XSS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343400" y="1737360"/>
            <a:ext cx="3520440" cy="2286000"/>
          </a:xfrm>
          <a:prstGeom prst="roundRect">
            <a:avLst>
              <a:gd name="adj" fmla="val 2400"/>
            </a:avLst>
          </a:prstGeom>
          <a:solidFill>
            <a:srgbClr val="2E5E43"/>
          </a:solidFill>
          <a:ln w="15875">
            <a:solidFill>
              <a:srgbClr val="4E8567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544568" y="1865376"/>
            <a:ext cx="31181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4544568" y="2267712"/>
            <a:ext cx="3118104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E8F2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Só trafega em HTTPS</a:t>
            </a:r>
            <a:endParaRPr lang="en-US" sz="12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E8F2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Impede captura em texto claro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8046720" y="1737360"/>
            <a:ext cx="3520440" cy="2286000"/>
          </a:xfrm>
          <a:prstGeom prst="roundRect">
            <a:avLst>
              <a:gd name="adj" fmla="val 2400"/>
            </a:avLst>
          </a:prstGeom>
          <a:solidFill>
            <a:srgbClr val="2E5E43"/>
          </a:solidFill>
          <a:ln w="15875">
            <a:solidFill>
              <a:srgbClr val="4E8567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247888" y="1865376"/>
            <a:ext cx="31181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SameSite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8247888" y="2267712"/>
            <a:ext cx="3118104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E8F2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Lax/Strict</a:t>
            </a:r>
            <a:endParaRPr lang="en-US" sz="12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E8F2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 envio cross-site</a:t>
            </a:r>
            <a:endParaRPr lang="en-US" sz="12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E8F2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 CSRF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40080" y="4297680"/>
            <a:ext cx="10881360" cy="676656"/>
          </a:xfrm>
          <a:prstGeom prst="roundRect">
            <a:avLst>
              <a:gd name="adj" fmla="val 6757"/>
            </a:avLst>
          </a:prstGeom>
          <a:solidFill>
            <a:srgbClr val="3A2E1E"/>
          </a:solidFill>
          <a:ln w="9525">
            <a:solidFill>
              <a:srgbClr val="E8B36B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22960" y="4370832"/>
            <a:ext cx="10515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E8B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Portal: 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E4EA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baseline o cookie está sem essas flags — o Lab 4.3 as habilita.</a:t>
            </a:r>
            <a:endParaRPr lang="en-US" sz="125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2A344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551615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E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5029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Stateful x Stateless — trade-offs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5349240" cy="2377440"/>
          </a:xfrm>
          <a:prstGeom prst="roundRect">
            <a:avLst>
              <a:gd name="adj" fmla="val 2308"/>
            </a:avLst>
          </a:prstGeom>
          <a:solidFill>
            <a:srgbClr val="2E5E43"/>
          </a:solidFill>
          <a:ln w="15875">
            <a:solidFill>
              <a:srgbClr val="4E856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41248" y="1865376"/>
            <a:ext cx="49469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Sessão (JSESSIONID)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841248" y="2267712"/>
            <a:ext cx="494690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E8F2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 no servidor</a:t>
            </a:r>
            <a:endParaRPr lang="en-US" sz="12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E8F2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Fácil de revogar</a:t>
            </a:r>
            <a:endParaRPr lang="en-US" sz="12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E8F2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 com sticky/replicação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172200" y="1737360"/>
            <a:ext cx="5349240" cy="2377440"/>
          </a:xfrm>
          <a:prstGeom prst="roundRect">
            <a:avLst>
              <a:gd name="adj" fmla="val 2308"/>
            </a:avLst>
          </a:prstGeom>
          <a:solidFill>
            <a:srgbClr val="27303F"/>
          </a:solidFill>
          <a:ln w="15875">
            <a:solidFill>
              <a:srgbClr val="4E8567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373368" y="1865376"/>
            <a:ext cx="49469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(stateless)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6373368" y="2267712"/>
            <a:ext cx="494690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AE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estado no servidor</a:t>
            </a:r>
            <a:endParaRPr lang="en-US" sz="12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AE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Fácil de escalar</a:t>
            </a:r>
            <a:endParaRPr lang="en-US" sz="12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AE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Difícil revogar antes de expirar</a:t>
            </a:r>
            <a:endParaRPr lang="en-US" sz="125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2A344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551615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E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5029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 escolher?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481328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550" i="1" dirty="0">
                <a:solidFill>
                  <a:srgbClr val="D7D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existe 'melhor'; existe o adequado ao contexto.</a:t>
            </a:r>
            <a:endParaRPr lang="en-US" sz="155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2487168"/>
            <a:ext cx="1088136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AE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Portal: a web usa sessão; a API usa JWT.</a:t>
            </a:r>
            <a:endParaRPr lang="en-US" sz="1450" dirty="0"/>
          </a:p>
          <a:p>
            <a:pPr marL="203200" indent="-2032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AE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Sessão: pulseira da festa que o segurança pode cancelar.</a:t>
            </a:r>
            <a:endParaRPr lang="en-US" sz="1450" dirty="0"/>
          </a:p>
          <a:p>
            <a:pPr marL="203200" indent="-2032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AE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JWT: ingresso impresso que vale até a data — cancelar antes é difícil.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640080" y="4343400"/>
            <a:ext cx="10881360" cy="676656"/>
          </a:xfrm>
          <a:prstGeom prst="roundRect">
            <a:avLst>
              <a:gd name="adj" fmla="val 6757"/>
            </a:avLst>
          </a:prstGeom>
          <a:solidFill>
            <a:srgbClr val="20303F"/>
          </a:solidFill>
          <a:ln w="9525">
            <a:solidFill>
              <a:srgbClr val="9CC0E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22960" y="4416552"/>
            <a:ext cx="10515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9CC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Mitigação p/ JWT: 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E4EA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expiração curta + refresh token reduzem a janela de um token roubado.</a:t>
            </a:r>
            <a:endParaRPr lang="en-US" sz="125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222B3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188720" y="4114800"/>
            <a:ext cx="3840480" cy="3840480"/>
          </a:xfrm>
          <a:prstGeom prst="ellipse">
            <a:avLst/>
          </a:prstGeom>
          <a:solidFill>
            <a:srgbClr val="1A222E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31520" y="2011680"/>
            <a:ext cx="4572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5AA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46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3200400"/>
            <a:ext cx="10515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e CSRF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434340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AE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token só vale se a assinatura for verificada — sempre.</a:t>
            </a:r>
            <a:endParaRPr lang="en-US" sz="14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2A344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551615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E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5029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Anatomia de um JWT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2286000"/>
            <a:ext cx="3383280" cy="1005840"/>
          </a:xfrm>
          <a:prstGeom prst="roundRect">
            <a:avLst>
              <a:gd name="adj" fmla="val 5455"/>
            </a:avLst>
          </a:prstGeom>
          <a:solidFill>
            <a:srgbClr val="F3E1B5"/>
          </a:solidFill>
          <a:ln w="12700">
            <a:solidFill>
              <a:srgbClr val="0F162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2286000"/>
            <a:ext cx="3291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200" b="1" dirty="0">
                <a:solidFill>
                  <a:srgbClr val="1B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HEADER</a:t>
            </a:r>
            <a:endParaRPr lang="en-US" sz="120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1200" b="1" dirty="0">
                <a:solidFill>
                  <a:srgbClr val="1B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{alg, typ}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4023360" y="2468880"/>
            <a:ext cx="274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4343400" y="2286000"/>
            <a:ext cx="3383280" cy="1005840"/>
          </a:xfrm>
          <a:prstGeom prst="roundRect">
            <a:avLst>
              <a:gd name="adj" fmla="val 5455"/>
            </a:avLst>
          </a:prstGeom>
          <a:solidFill>
            <a:srgbClr val="AECBFA"/>
          </a:solidFill>
          <a:ln w="12700">
            <a:solidFill>
              <a:srgbClr val="0F162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389120" y="2286000"/>
            <a:ext cx="3291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200" b="1" dirty="0">
                <a:solidFill>
                  <a:srgbClr val="1B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PAYLOAD</a:t>
            </a:r>
            <a:endParaRPr lang="en-US" sz="120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1200" b="1" dirty="0">
                <a:solidFill>
                  <a:srgbClr val="1B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{sub, role, exp}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7772400" y="2468880"/>
            <a:ext cx="274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2800" dirty="0"/>
          </a:p>
        </p:txBody>
      </p:sp>
      <p:sp>
        <p:nvSpPr>
          <p:cNvPr id="10" name="Shape 8"/>
          <p:cNvSpPr/>
          <p:nvPr/>
        </p:nvSpPr>
        <p:spPr>
          <a:xfrm>
            <a:off x="8092440" y="2286000"/>
            <a:ext cx="3383280" cy="1005840"/>
          </a:xfrm>
          <a:prstGeom prst="roundRect">
            <a:avLst>
              <a:gd name="adj" fmla="val 5455"/>
            </a:avLst>
          </a:prstGeom>
          <a:solidFill>
            <a:srgbClr val="BFE3CE"/>
          </a:solidFill>
          <a:ln w="12700">
            <a:solidFill>
              <a:srgbClr val="0F162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138160" y="2286000"/>
            <a:ext cx="3291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200" b="1" dirty="0">
                <a:solidFill>
                  <a:srgbClr val="1B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SIGNATURE</a:t>
            </a:r>
            <a:endParaRPr lang="en-US" sz="120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1200" b="1" dirty="0">
                <a:solidFill>
                  <a:srgbClr val="1B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(HMAC/RSA)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640080" y="356616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E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Header e payload são apenas Base64URL — legíveis por qualquer um. A SEGURANÇA está na assinatura.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40080" y="4206240"/>
            <a:ext cx="10881360" cy="896112"/>
          </a:xfrm>
          <a:prstGeom prst="roundRect">
            <a:avLst>
              <a:gd name="adj" fmla="val 5102"/>
            </a:avLst>
          </a:prstGeom>
          <a:solidFill>
            <a:srgbClr val="3A2E1E"/>
          </a:solidFill>
          <a:ln w="9525">
            <a:solidFill>
              <a:srgbClr val="E8B36B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22960" y="4279392"/>
            <a:ext cx="10515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E8B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Ponto crítico: 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E4EA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você não verifica a assinatura, o payload (incl. a role) é totalmente forjável.</a:t>
            </a:r>
            <a:endParaRPr lang="en-US" sz="125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2A344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551615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E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5029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— validação correta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55448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550" i="1" dirty="0">
                <a:solidFill>
                  <a:srgbClr val="D7D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Valide a assinatura fixando o algoritmo esperado e cheque exp/iss/aud.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640080" y="2560320"/>
            <a:ext cx="10881360" cy="1188720"/>
          </a:xfrm>
          <a:prstGeom prst="roundRect">
            <a:avLst>
              <a:gd name="adj" fmla="val 3846"/>
            </a:avLst>
          </a:prstGeom>
          <a:solidFill>
            <a:srgbClr val="141B27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22960" y="2670048"/>
            <a:ext cx="1051560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Jwts.parserBuilder()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.setSigningKey(key)            // chave forte, fora do código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.build()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.parseClaimsJws(token);         // lança exceção se assinatura/alg/exp inválidos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40080" y="4572000"/>
            <a:ext cx="10881360" cy="676656"/>
          </a:xfrm>
          <a:prstGeom prst="roundRect">
            <a:avLst>
              <a:gd name="adj" fmla="val 6757"/>
            </a:avLst>
          </a:prstGeom>
          <a:solidFill>
            <a:srgbClr val="3A2E1E"/>
          </a:solidFill>
          <a:ln w="9525">
            <a:solidFill>
              <a:srgbClr val="E8B36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22960" y="4645152"/>
            <a:ext cx="10515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E8B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Portal: 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E4EA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hoje o token é lido sem verificar a assinatura — o Lab 4.2 corrige.</a:t>
            </a:r>
            <a:endParaRPr lang="en-US" sz="125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2A344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551615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E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5029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Ataque alg:none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2286000"/>
            <a:ext cx="4206240" cy="1005840"/>
          </a:xfrm>
          <a:prstGeom prst="roundRect">
            <a:avLst>
              <a:gd name="adj" fmla="val 5455"/>
            </a:avLst>
          </a:prstGeom>
          <a:solidFill>
            <a:srgbClr val="F6B8B6"/>
          </a:solidFill>
          <a:ln w="12700">
            <a:solidFill>
              <a:srgbClr val="0F162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2286000"/>
            <a:ext cx="4114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100" b="1" dirty="0">
                <a:solidFill>
                  <a:srgbClr val="1B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{"alg":"none"}</a:t>
            </a:r>
            <a:endParaRPr lang="en-US" sz="110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1100" b="1" dirty="0">
                <a:solidFill>
                  <a:srgbClr val="1B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{"sub":"joao","role":"ADMIN"}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029200" y="2697480"/>
            <a:ext cx="640080" cy="274320"/>
          </a:xfrm>
          <a:prstGeom prst="rightArrow">
            <a:avLst/>
          </a:prstGeom>
          <a:solidFill>
            <a:srgbClr val="E0605F"/>
          </a:solidFill>
          <a:ln/>
        </p:spPr>
      </p:sp>
      <p:sp>
        <p:nvSpPr>
          <p:cNvPr id="7" name="Shape 5"/>
          <p:cNvSpPr/>
          <p:nvPr/>
        </p:nvSpPr>
        <p:spPr>
          <a:xfrm>
            <a:off x="5852160" y="2286000"/>
            <a:ext cx="2743200" cy="1005840"/>
          </a:xfrm>
          <a:prstGeom prst="roundRect">
            <a:avLst>
              <a:gd name="adj" fmla="val 5455"/>
            </a:avLst>
          </a:prstGeom>
          <a:solidFill>
            <a:srgbClr val="E9EDF2"/>
          </a:solidFill>
          <a:ln w="12700">
            <a:solidFill>
              <a:srgbClr val="0F162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897880" y="2286000"/>
            <a:ext cx="2651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200" b="1" dirty="0">
                <a:solidFill>
                  <a:srgbClr val="1B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assinatura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8686800" y="2697480"/>
            <a:ext cx="640080" cy="274320"/>
          </a:xfrm>
          <a:prstGeom prst="rightArrow">
            <a:avLst/>
          </a:prstGeom>
          <a:solidFill>
            <a:srgbClr val="E0605F"/>
          </a:solidFill>
          <a:ln/>
        </p:spPr>
      </p:sp>
      <p:sp>
        <p:nvSpPr>
          <p:cNvPr id="10" name="Shape 8"/>
          <p:cNvSpPr/>
          <p:nvPr/>
        </p:nvSpPr>
        <p:spPr>
          <a:xfrm>
            <a:off x="9509760" y="2286000"/>
            <a:ext cx="2011680" cy="1005840"/>
          </a:xfrm>
          <a:prstGeom prst="roundRect">
            <a:avLst>
              <a:gd name="adj" fmla="val 5455"/>
            </a:avLst>
          </a:prstGeom>
          <a:solidFill>
            <a:srgbClr val="F6B8B6"/>
          </a:solidFill>
          <a:ln w="12700">
            <a:solidFill>
              <a:srgbClr val="0F162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555480" y="2286000"/>
            <a:ext cx="1920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100" b="1" dirty="0">
                <a:solidFill>
                  <a:srgbClr val="1B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aceito?!</a:t>
            </a:r>
            <a:endParaRPr lang="en-US" sz="110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1100" b="1" dirty="0">
                <a:solidFill>
                  <a:srgbClr val="1B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admin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640080" y="347472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C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Parsers permissivos aceitam tokens sem assinatura → escalada instantânea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40080" y="4114800"/>
            <a:ext cx="10881360" cy="896112"/>
          </a:xfrm>
          <a:prstGeom prst="roundRect">
            <a:avLst>
              <a:gd name="adj" fmla="val 5102"/>
            </a:avLst>
          </a:prstGeom>
          <a:solidFill>
            <a:srgbClr val="1F3A2E"/>
          </a:solidFill>
          <a:ln w="9525">
            <a:solidFill>
              <a:srgbClr val="7FD3A6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22960" y="4187952"/>
            <a:ext cx="10515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7FD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se defende: 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E4EA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exija um algoritmo específico e verifique com a chave correta; rejeite tokens sem assinatura.</a:t>
            </a:r>
            <a:endParaRPr lang="en-US" sz="125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2A344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551615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E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5029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 confusion (HS/RS)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481328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550" i="1" dirty="0">
                <a:solidFill>
                  <a:srgbClr val="D7D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armadilha mais sutil que o alg:none.</a:t>
            </a:r>
            <a:endParaRPr lang="en-US" sz="155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2487168"/>
            <a:ext cx="1088136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AE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servidor espera RS256 (assinatura com chave privada, verifica com a pública).</a:t>
            </a:r>
            <a:endParaRPr lang="en-US" sz="1450" dirty="0"/>
          </a:p>
          <a:p>
            <a:pPr marL="203200" indent="-2032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AE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atacante troca para HS256 e assina usando a chave PÚBLICA como se fosse o segredo HMAC.</a:t>
            </a:r>
            <a:endParaRPr lang="en-US" sz="1450" dirty="0"/>
          </a:p>
          <a:p>
            <a:pPr marL="203200" indent="-2032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AE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o servidor não fixa o algoritmo, aceita o token forjado.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640080" y="4343400"/>
            <a:ext cx="10881360" cy="676656"/>
          </a:xfrm>
          <a:prstGeom prst="roundRect">
            <a:avLst>
              <a:gd name="adj" fmla="val 6757"/>
            </a:avLst>
          </a:prstGeom>
          <a:solidFill>
            <a:srgbClr val="1F3A2E"/>
          </a:solidFill>
          <a:ln w="9525">
            <a:solidFill>
              <a:srgbClr val="7FD3A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22960" y="4416552"/>
            <a:ext cx="10515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7FD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Defesa: 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E4EA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 o algoritmo esperado no parser — nunca deixe o token escolher o algoritmo.</a:t>
            </a:r>
            <a:endParaRPr lang="en-US" sz="125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2A344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551615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E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5029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CSRF — por que ainda importa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481328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550" i="1" dirty="0">
                <a:solidFill>
                  <a:srgbClr val="D7D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Mesmo com SameSite, o CSRF continua relevante para fluxos baseados em cookie.</a:t>
            </a:r>
            <a:endParaRPr lang="en-US" sz="155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2487168"/>
            <a:ext cx="1088136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AE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navegador da vítima envia os cookies automaticamente em requisições forjadas.</a:t>
            </a:r>
            <a:endParaRPr lang="en-US" sz="1450" dirty="0"/>
          </a:p>
          <a:p>
            <a:pPr marL="203200" indent="-2032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AE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site malicioso dispara uma ação no seu app usando a sessão da vítima.</a:t>
            </a:r>
            <a:endParaRPr lang="en-US" sz="1450" dirty="0"/>
          </a:p>
          <a:p>
            <a:pPr marL="203200" indent="-2032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AE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Spring Security protege com um token sincronizador.</a:t>
            </a:r>
            <a:endParaRPr lang="en-US" sz="145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2A344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551615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E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5029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o CSRF acontece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2286000"/>
            <a:ext cx="3108960" cy="1005840"/>
          </a:xfrm>
          <a:prstGeom prst="roundRect">
            <a:avLst>
              <a:gd name="adj" fmla="val 5455"/>
            </a:avLst>
          </a:prstGeom>
          <a:solidFill>
            <a:srgbClr val="AECBFA"/>
          </a:solidFill>
          <a:ln w="12700">
            <a:solidFill>
              <a:srgbClr val="0F162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2286000"/>
            <a:ext cx="3017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200" b="1" dirty="0">
                <a:solidFill>
                  <a:srgbClr val="1B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Vítima logada</a:t>
            </a:r>
            <a:endParaRPr lang="en-US" sz="120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1200" b="1" dirty="0">
                <a:solidFill>
                  <a:srgbClr val="1B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Portal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840480" y="2697480"/>
            <a:ext cx="548640" cy="274320"/>
          </a:xfrm>
          <a:prstGeom prst="rightArrow">
            <a:avLst/>
          </a:prstGeom>
          <a:solidFill>
            <a:srgbClr val="E0605F"/>
          </a:solidFill>
          <a:ln/>
        </p:spPr>
      </p:sp>
      <p:sp>
        <p:nvSpPr>
          <p:cNvPr id="7" name="Shape 5"/>
          <p:cNvSpPr/>
          <p:nvPr/>
        </p:nvSpPr>
        <p:spPr>
          <a:xfrm>
            <a:off x="4480560" y="2286000"/>
            <a:ext cx="3291840" cy="1005840"/>
          </a:xfrm>
          <a:prstGeom prst="roundRect">
            <a:avLst>
              <a:gd name="adj" fmla="val 5455"/>
            </a:avLst>
          </a:prstGeom>
          <a:solidFill>
            <a:srgbClr val="F6B8B6"/>
          </a:solidFill>
          <a:ln w="12700">
            <a:solidFill>
              <a:srgbClr val="0F162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526280" y="2286000"/>
            <a:ext cx="3200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100" b="1" dirty="0">
                <a:solidFill>
                  <a:srgbClr val="1B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Visita site malicioso</a:t>
            </a:r>
            <a:endParaRPr lang="en-US" sz="110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1100" b="1" dirty="0">
                <a:solidFill>
                  <a:srgbClr val="1B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(form oculto)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7863840" y="2697480"/>
            <a:ext cx="548640" cy="274320"/>
          </a:xfrm>
          <a:prstGeom prst="rightArrow">
            <a:avLst/>
          </a:prstGeom>
          <a:solidFill>
            <a:srgbClr val="E0605F"/>
          </a:solidFill>
          <a:ln/>
        </p:spPr>
      </p:sp>
      <p:sp>
        <p:nvSpPr>
          <p:cNvPr id="10" name="Shape 8"/>
          <p:cNvSpPr/>
          <p:nvPr/>
        </p:nvSpPr>
        <p:spPr>
          <a:xfrm>
            <a:off x="8503920" y="2286000"/>
            <a:ext cx="3017520" cy="1005840"/>
          </a:xfrm>
          <a:prstGeom prst="roundRect">
            <a:avLst>
              <a:gd name="adj" fmla="val 5455"/>
            </a:avLst>
          </a:prstGeom>
          <a:solidFill>
            <a:srgbClr val="F6B8B6"/>
          </a:solidFill>
          <a:ln w="12700">
            <a:solidFill>
              <a:srgbClr val="0F162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549640" y="2286000"/>
            <a:ext cx="2926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100" b="1" dirty="0">
                <a:solidFill>
                  <a:srgbClr val="1B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ao Portal</a:t>
            </a:r>
            <a:endParaRPr lang="en-US" sz="110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1100" b="1" dirty="0">
                <a:solidFill>
                  <a:srgbClr val="1B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 cookie da vítima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640080" y="347472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C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token CSRF, o Portal não distingue a requisição forjada da legítima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40080" y="4114800"/>
            <a:ext cx="10881360" cy="676656"/>
          </a:xfrm>
          <a:prstGeom prst="roundRect">
            <a:avLst>
              <a:gd name="adj" fmla="val 6757"/>
            </a:avLst>
          </a:prstGeom>
          <a:solidFill>
            <a:srgbClr val="3A2E1E"/>
          </a:solidFill>
          <a:ln w="9525">
            <a:solidFill>
              <a:srgbClr val="E8B36B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22960" y="4187952"/>
            <a:ext cx="10515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E8B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Portal: 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E4EA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CSRF está desabilitado globalmente sem justificativa; o Lab 4.4 reativa para a web.</a:t>
            </a:r>
            <a:endParaRPr lang="en-US" sz="125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2A344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551615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E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43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5029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CSRF — quando é seguro desabilitar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481328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550" i="1" dirty="0">
                <a:solidFill>
                  <a:srgbClr val="D7D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resposta curta: quase nunca — mas há um caso legítimo.</a:t>
            </a:r>
            <a:endParaRPr lang="en-US" sz="155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2487168"/>
            <a:ext cx="1088136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Seguro desabilitar: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AE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APIs puramente stateless que usam token em HEADER (não em cookie).</a:t>
            </a:r>
            <a:endParaRPr lang="en-US" sz="1450" dirty="0"/>
          </a:p>
          <a:p>
            <a:pPr marL="203200" indent="-2032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AE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Nesse caso, o navegador não envia o token automaticamente → CSRF não se aplica.</a:t>
            </a:r>
            <a:endParaRPr lang="en-US" sz="1450" dirty="0"/>
          </a:p>
          <a:p>
            <a:pPr marL="203200" indent="-2032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Manter habilitado: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AE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qualquer fluxo baseado em cookie de sessão.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640080" y="4343400"/>
            <a:ext cx="10881360" cy="676656"/>
          </a:xfrm>
          <a:prstGeom prst="roundRect">
            <a:avLst>
              <a:gd name="adj" fmla="val 6757"/>
            </a:avLst>
          </a:prstGeom>
          <a:solidFill>
            <a:srgbClr val="20303F"/>
          </a:solidFill>
          <a:ln w="9525">
            <a:solidFill>
              <a:srgbClr val="9CC0E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22960" y="4416552"/>
            <a:ext cx="10515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9CC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Portal: 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E4EA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reativamos o CSRF para a web e isentamos a API stateless (/api/**).</a:t>
            </a:r>
            <a:endParaRPr lang="en-US" sz="125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2A344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551615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E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5029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Timeout e sessões concorrentes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481328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550" i="1" dirty="0">
                <a:solidFill>
                  <a:srgbClr val="D7D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Sessões eternas e ilimitadas ampliam a janela de ataque.</a:t>
            </a:r>
            <a:endParaRPr lang="en-US" sz="155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2487168"/>
            <a:ext cx="1088136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AE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Timeout de inatividade + tempo máximo absoluto.</a:t>
            </a:r>
            <a:endParaRPr lang="en-US" sz="1450" dirty="0"/>
          </a:p>
          <a:p>
            <a:pPr marL="203200" indent="-2032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AE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 sessões simultâneas por usuário (maximumSessions).</a:t>
            </a:r>
            <a:endParaRPr lang="en-US" sz="1450" dirty="0"/>
          </a:p>
          <a:p>
            <a:pPr marL="203200" indent="-2032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AE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Encerre sessões antigas ao exceder o limite.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640080" y="4343400"/>
            <a:ext cx="10881360" cy="676656"/>
          </a:xfrm>
          <a:prstGeom prst="roundRect">
            <a:avLst>
              <a:gd name="adj" fmla="val 6757"/>
            </a:avLst>
          </a:prstGeom>
          <a:solidFill>
            <a:srgbClr val="1F3A2E"/>
          </a:solidFill>
          <a:ln w="9525">
            <a:solidFill>
              <a:srgbClr val="7FD3A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22960" y="4416552"/>
            <a:ext cx="10515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7FD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Regra de ouro: 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E4EA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 sessão deve expirar — por inatividade e por tempo total.</a:t>
            </a:r>
            <a:endParaRPr lang="en-US" sz="125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222B3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188720" y="4114800"/>
            <a:ext cx="3840480" cy="3840480"/>
          </a:xfrm>
          <a:prstGeom prst="ellipse">
            <a:avLst/>
          </a:prstGeom>
          <a:solidFill>
            <a:srgbClr val="1A222E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31520" y="2011680"/>
            <a:ext cx="4572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5AA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46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3200400"/>
            <a:ext cx="10515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Laboratório da Aula 4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434340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AE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Explorar a falha (quando aplicável) e corrigir, com evidência do antes e depois.</a:t>
            </a:r>
            <a:endParaRPr lang="en-US" sz="14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2A344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551615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E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46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5029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Roteiro do laboratório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5349240" cy="1371600"/>
          </a:xfrm>
          <a:prstGeom prst="roundRect">
            <a:avLst>
              <a:gd name="adj" fmla="val 4000"/>
            </a:avLst>
          </a:prstGeom>
          <a:solidFill>
            <a:srgbClr val="2E5E43"/>
          </a:solidFill>
          <a:ln w="15875">
            <a:solidFill>
              <a:srgbClr val="4E856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41248" y="1865376"/>
            <a:ext cx="49469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4.1 — AES-256-GCM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841248" y="2267712"/>
            <a:ext cx="494690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E8F2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Base64 → cifra real, chave em env, IV com SecureRandom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172200" y="1737360"/>
            <a:ext cx="5349240" cy="1371600"/>
          </a:xfrm>
          <a:prstGeom prst="roundRect">
            <a:avLst>
              <a:gd name="adj" fmla="val 4000"/>
            </a:avLst>
          </a:prstGeom>
          <a:solidFill>
            <a:srgbClr val="2E5E43"/>
          </a:solidFill>
          <a:ln w="15875">
            <a:solidFill>
              <a:srgbClr val="4E8567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373368" y="1865376"/>
            <a:ext cx="49469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4.2 — JWT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6373368" y="2267712"/>
            <a:ext cx="494690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E8F2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Verificar assinatura; demonstrar alg:none antes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40080" y="3291840"/>
            <a:ext cx="5349240" cy="1371600"/>
          </a:xfrm>
          <a:prstGeom prst="roundRect">
            <a:avLst>
              <a:gd name="adj" fmla="val 4000"/>
            </a:avLst>
          </a:prstGeom>
          <a:solidFill>
            <a:srgbClr val="2E5E43"/>
          </a:solidFill>
          <a:ln w="15875">
            <a:solidFill>
              <a:srgbClr val="4E8567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41248" y="3419856"/>
            <a:ext cx="49469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4.3 — Sessão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841248" y="3822192"/>
            <a:ext cx="494690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E8F2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Cookie HttpOnly/Secure/SameSite + regeneração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172200" y="3291840"/>
            <a:ext cx="5349240" cy="1371600"/>
          </a:xfrm>
          <a:prstGeom prst="roundRect">
            <a:avLst>
              <a:gd name="adj" fmla="val 4000"/>
            </a:avLst>
          </a:prstGeom>
          <a:solidFill>
            <a:srgbClr val="2E5E43"/>
          </a:solidFill>
          <a:ln w="15875">
            <a:solidFill>
              <a:srgbClr val="4E8567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373368" y="3419856"/>
            <a:ext cx="49469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4.4 — CSRF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6373368" y="3822192"/>
            <a:ext cx="494690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E8F2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Reativar p/ web + teste de requisição forjada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40080" y="4937760"/>
            <a:ext cx="10881360" cy="676656"/>
          </a:xfrm>
          <a:prstGeom prst="roundRect">
            <a:avLst>
              <a:gd name="adj" fmla="val 6757"/>
            </a:avLst>
          </a:prstGeom>
          <a:solidFill>
            <a:srgbClr val="20303F"/>
          </a:solidFill>
          <a:ln w="9525">
            <a:solidFill>
              <a:srgbClr val="9CC0E8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22960" y="5010912"/>
            <a:ext cx="10515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9CC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Portal: 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E4EA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passo a passo está no deck de laboratório (lab-aula-4) e no lab.md.</a:t>
            </a:r>
            <a:endParaRPr lang="en-US" sz="125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2A344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551615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E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5029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Recapitulando a Aula 4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5349240" cy="868680"/>
          </a:xfrm>
          <a:prstGeom prst="roundRect">
            <a:avLst>
              <a:gd name="adj" fmla="val 6316"/>
            </a:avLst>
          </a:prstGeom>
          <a:solidFill>
            <a:srgbClr val="27303F"/>
          </a:solidFill>
          <a:ln w="12700">
            <a:solidFill>
              <a:srgbClr val="4E856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04672" y="1956816"/>
            <a:ext cx="438912" cy="438912"/>
          </a:xfrm>
          <a:prstGeom prst="ellipse">
            <a:avLst/>
          </a:prstGeom>
          <a:solidFill>
            <a:srgbClr val="2E5E43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04672" y="1956816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AA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371600" y="1737360"/>
            <a:ext cx="4480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E4EA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'Preciso ler de volta?' decide cifra x hash.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309360" y="1737360"/>
            <a:ext cx="5349240" cy="868680"/>
          </a:xfrm>
          <a:prstGeom prst="roundRect">
            <a:avLst>
              <a:gd name="adj" fmla="val 6316"/>
            </a:avLst>
          </a:prstGeom>
          <a:solidFill>
            <a:srgbClr val="27303F"/>
          </a:solidFill>
          <a:ln w="12700">
            <a:solidFill>
              <a:srgbClr val="4E856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73952" y="1956816"/>
            <a:ext cx="438912" cy="438912"/>
          </a:xfrm>
          <a:prstGeom prst="ellipse">
            <a:avLst/>
          </a:prstGeom>
          <a:solidFill>
            <a:srgbClr val="2E5E43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473952" y="1956816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AA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7040880" y="1737360"/>
            <a:ext cx="4480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E4EA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AES-256-GCM: confidencialidade + integridade.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40080" y="2788920"/>
            <a:ext cx="5349240" cy="868680"/>
          </a:xfrm>
          <a:prstGeom prst="roundRect">
            <a:avLst>
              <a:gd name="adj" fmla="val 6316"/>
            </a:avLst>
          </a:prstGeom>
          <a:solidFill>
            <a:srgbClr val="27303F"/>
          </a:solidFill>
          <a:ln w="12700">
            <a:solidFill>
              <a:srgbClr val="4E8567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04672" y="3008376"/>
            <a:ext cx="438912" cy="438912"/>
          </a:xfrm>
          <a:prstGeom prst="ellipse">
            <a:avLst/>
          </a:prstGeom>
          <a:solidFill>
            <a:srgbClr val="2E5E43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04672" y="3008376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AA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1371600" y="2788920"/>
            <a:ext cx="4480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E4EA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Chave fora do código; IV único com SecureRandom.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309360" y="2788920"/>
            <a:ext cx="5349240" cy="868680"/>
          </a:xfrm>
          <a:prstGeom prst="roundRect">
            <a:avLst>
              <a:gd name="adj" fmla="val 6316"/>
            </a:avLst>
          </a:prstGeom>
          <a:solidFill>
            <a:srgbClr val="27303F"/>
          </a:solidFill>
          <a:ln w="12700">
            <a:solidFill>
              <a:srgbClr val="4E8567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473952" y="3008376"/>
            <a:ext cx="438912" cy="438912"/>
          </a:xfrm>
          <a:prstGeom prst="ellipse">
            <a:avLst/>
          </a:prstGeom>
          <a:solidFill>
            <a:srgbClr val="2E5E43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473952" y="3008376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AA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7040880" y="2788920"/>
            <a:ext cx="4480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E4EA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Cookie: HttpOnly + Secure + SameSite; regenere no login.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40080" y="3840480"/>
            <a:ext cx="5349240" cy="868680"/>
          </a:xfrm>
          <a:prstGeom prst="roundRect">
            <a:avLst>
              <a:gd name="adj" fmla="val 6316"/>
            </a:avLst>
          </a:prstGeom>
          <a:solidFill>
            <a:srgbClr val="27303F"/>
          </a:solidFill>
          <a:ln w="12700">
            <a:solidFill>
              <a:srgbClr val="4E8567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04672" y="4059936"/>
            <a:ext cx="438912" cy="438912"/>
          </a:xfrm>
          <a:prstGeom prst="ellipse">
            <a:avLst/>
          </a:prstGeom>
          <a:solidFill>
            <a:srgbClr val="2E5E43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804672" y="4059936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AA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1371600" y="3840480"/>
            <a:ext cx="4480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E4EA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JWT: verifique a assinatura; barre alg:none.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6309360" y="3840480"/>
            <a:ext cx="5349240" cy="868680"/>
          </a:xfrm>
          <a:prstGeom prst="roundRect">
            <a:avLst>
              <a:gd name="adj" fmla="val 6316"/>
            </a:avLst>
          </a:prstGeom>
          <a:solidFill>
            <a:srgbClr val="27303F"/>
          </a:solidFill>
          <a:ln w="12700">
            <a:solidFill>
              <a:srgbClr val="4E8567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473952" y="4059936"/>
            <a:ext cx="438912" cy="438912"/>
          </a:xfrm>
          <a:prstGeom prst="ellipse">
            <a:avLst/>
          </a:prstGeom>
          <a:solidFill>
            <a:srgbClr val="2E5E43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473952" y="4059936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AA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27" name="Text 25"/>
          <p:cNvSpPr txBox="1"/>
          <p:nvPr/>
        </p:nvSpPr>
        <p:spPr>
          <a:xfrm>
            <a:off x="7040880" y="3840480"/>
            <a:ext cx="4480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E4EA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CSRF: habilitado p/ cookie; isento só p/ API em header.</a:t>
            </a:r>
            <a:endParaRPr lang="en-US" sz="125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222B3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219456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5AA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PRÓXIMA AULA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2606040"/>
            <a:ext cx="10607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5 — Tratamento de Erros e Testes (SAST/DAST)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3749040"/>
            <a:ext cx="10241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AE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Falhar sem vazar informação e caçar falhas com ferramentas de análise estática e dinâmica. A Aula 5 parte de aula-5-baseline.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48</Slides>
  <Notes>48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48</vt:i4>
      </vt:variant>
    </vt:vector>
  </HeadingPairs>
  <TitlesOfParts>
    <vt:vector size="5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2026-09-17T15:12:25Z</dcterms:created>
  <dcterms:modified xsi:type="dcterms:W3CDTF">2026-09-17T15:12:25Z</dcterms:modified>
</cp:coreProperties>
</file>